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8288000" cy="10287000"/>
  <p:notesSz cx="6858000" cy="9144000"/>
  <p:embeddedFontLst>
    <p:embeddedFont>
      <p:font typeface="Barlow Ultra-Bold" panose="020B0604020202020204" charset="0"/>
      <p:regular r:id="rId10"/>
    </p:embeddedFont>
    <p:embeddedFont>
      <p:font typeface="Be Vietnam Ultra-Bold" panose="020B0604020202020204" charset="0"/>
      <p:regular r:id="rId11"/>
    </p:embeddedFont>
    <p:embeddedFont>
      <p:font typeface="Bernoru Condensed" panose="020B0604020202020204" charset="0"/>
      <p:regular r:id="rId12"/>
    </p:embeddedFont>
    <p:embeddedFont>
      <p:font typeface="DM Sans" pitchFamily="2" charset="0"/>
      <p:regular r:id="rId13"/>
    </p:embeddedFont>
    <p:embeddedFont>
      <p:font typeface="DM Sans Bold" charset="0"/>
      <p:regular r:id="rId14"/>
    </p:embeddedFont>
    <p:embeddedFont>
      <p:font typeface="Heebo Heavy" panose="020B0604020202020204" charset="-79"/>
      <p:regular r:id="rId15"/>
    </p:embeddedFont>
    <p:embeddedFont>
      <p:font typeface="Inter" panose="020B0604020202020204" charset="0"/>
      <p:regular r:id="rId16"/>
    </p:embeddedFont>
    <p:embeddedFont>
      <p:font typeface="Inter Bold" panose="020B0604020202020204" charset="0"/>
      <p:regular r:id="rId17"/>
    </p:embeddedFont>
    <p:embeddedFont>
      <p:font typeface="Inter Semi-Bold" panose="020B0604020202020204" charset="0"/>
      <p:regular r:id="rId18"/>
    </p:embeddedFont>
    <p:embeddedFont>
      <p:font typeface="Open Sans Condensed" panose="020B0604020202020204" charset="0"/>
      <p:regular r:id="rId19"/>
    </p:embeddedFont>
    <p:embeddedFont>
      <p:font typeface="Open Sans Condensed Medium" panose="020B0604020202020204" charset="0"/>
      <p:regular r:id="rId20"/>
    </p:embeddedFont>
    <p:embeddedFont>
      <p:font typeface="Open Sans Hebrew Condensed" panose="020B0604020202020204" charset="-79"/>
      <p:regular r:id="rId21"/>
    </p:embeddedFont>
    <p:embeddedFont>
      <p:font typeface="Open Sans Hebrew Condensed Ultra-Bold" panose="020B0604020202020204" charset="-79"/>
      <p:regular r:id="rId22"/>
    </p:embeddedFont>
    <p:embeddedFont>
      <p:font typeface="Poppins Bold" panose="020B0604020202020204" charset="0"/>
      <p:regular r:id="rId23"/>
    </p:embeddedFont>
    <p:embeddedFont>
      <p:font typeface="Poppins Semi-Bold" panose="020B0604020202020204" charset="0"/>
      <p:regular r:id="rId24"/>
    </p:embeddedFont>
    <p:embeddedFont>
      <p:font typeface="Roboto Bold" panose="020B0604020202020204" charset="0"/>
      <p:regular r:id="rId25"/>
    </p:embeddedFont>
    <p:embeddedFont>
      <p:font typeface="Roboto Condensed" panose="02000000000000000000" pitchFamily="2" charset="0"/>
      <p:regular r:id="rId26"/>
    </p:embeddedFont>
    <p:embeddedFont>
      <p:font typeface="Roboto Condensed Bold" panose="02000000000000000000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3" d="100"/>
          <a:sy n="53" d="100"/>
        </p:scale>
        <p:origin x="140" y="2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font" Target="fonts/font17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font" Target="fonts/font16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28" Type="http://schemas.openxmlformats.org/officeDocument/2006/relationships/presProps" Target="pres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font" Target="fonts/font18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image" Target="../media/image18.png"/><Relationship Id="rId21" Type="http://schemas.openxmlformats.org/officeDocument/2006/relationships/image" Target="../media/image36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5" Type="http://schemas.openxmlformats.org/officeDocument/2006/relationships/image" Target="../media/image40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24" Type="http://schemas.openxmlformats.org/officeDocument/2006/relationships/image" Target="../media/image39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23" Type="http://schemas.openxmlformats.org/officeDocument/2006/relationships/image" Target="../media/image38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18" Type="http://schemas.openxmlformats.org/officeDocument/2006/relationships/image" Target="../media/image5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" Type="http://schemas.openxmlformats.org/officeDocument/2006/relationships/image" Target="../media/image41.png"/><Relationship Id="rId16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5" Type="http://schemas.openxmlformats.org/officeDocument/2006/relationships/image" Target="../media/image54.png"/><Relationship Id="rId10" Type="http://schemas.openxmlformats.org/officeDocument/2006/relationships/image" Target="../media/image49.png"/><Relationship Id="rId19" Type="http://schemas.openxmlformats.org/officeDocument/2006/relationships/image" Target="../media/image58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0.png"/><Relationship Id="rId18" Type="http://schemas.openxmlformats.org/officeDocument/2006/relationships/image" Target="../media/image75.png"/><Relationship Id="rId26" Type="http://schemas.openxmlformats.org/officeDocument/2006/relationships/image" Target="../media/image83.png"/><Relationship Id="rId21" Type="http://schemas.openxmlformats.org/officeDocument/2006/relationships/image" Target="../media/image78.png"/><Relationship Id="rId34" Type="http://schemas.openxmlformats.org/officeDocument/2006/relationships/image" Target="../media/image91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17" Type="http://schemas.openxmlformats.org/officeDocument/2006/relationships/image" Target="../media/image74.png"/><Relationship Id="rId25" Type="http://schemas.openxmlformats.org/officeDocument/2006/relationships/image" Target="../media/image82.png"/><Relationship Id="rId33" Type="http://schemas.openxmlformats.org/officeDocument/2006/relationships/image" Target="../media/image90.png"/><Relationship Id="rId2" Type="http://schemas.openxmlformats.org/officeDocument/2006/relationships/image" Target="../media/image59.png"/><Relationship Id="rId16" Type="http://schemas.openxmlformats.org/officeDocument/2006/relationships/image" Target="../media/image73.png"/><Relationship Id="rId20" Type="http://schemas.openxmlformats.org/officeDocument/2006/relationships/image" Target="../media/image77.png"/><Relationship Id="rId29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24" Type="http://schemas.openxmlformats.org/officeDocument/2006/relationships/image" Target="../media/image81.png"/><Relationship Id="rId32" Type="http://schemas.openxmlformats.org/officeDocument/2006/relationships/image" Target="../media/image89.png"/><Relationship Id="rId37" Type="http://schemas.openxmlformats.org/officeDocument/2006/relationships/image" Target="../media/image94.png"/><Relationship Id="rId5" Type="http://schemas.openxmlformats.org/officeDocument/2006/relationships/image" Target="../media/image62.png"/><Relationship Id="rId15" Type="http://schemas.openxmlformats.org/officeDocument/2006/relationships/image" Target="../media/image72.png"/><Relationship Id="rId23" Type="http://schemas.openxmlformats.org/officeDocument/2006/relationships/image" Target="../media/image80.png"/><Relationship Id="rId28" Type="http://schemas.openxmlformats.org/officeDocument/2006/relationships/image" Target="../media/image85.png"/><Relationship Id="rId36" Type="http://schemas.openxmlformats.org/officeDocument/2006/relationships/image" Target="../media/image93.png"/><Relationship Id="rId10" Type="http://schemas.openxmlformats.org/officeDocument/2006/relationships/image" Target="../media/image67.png"/><Relationship Id="rId19" Type="http://schemas.openxmlformats.org/officeDocument/2006/relationships/image" Target="../media/image76.png"/><Relationship Id="rId31" Type="http://schemas.openxmlformats.org/officeDocument/2006/relationships/image" Target="../media/image88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Relationship Id="rId14" Type="http://schemas.openxmlformats.org/officeDocument/2006/relationships/image" Target="../media/image71.png"/><Relationship Id="rId22" Type="http://schemas.openxmlformats.org/officeDocument/2006/relationships/image" Target="../media/image79.png"/><Relationship Id="rId27" Type="http://schemas.openxmlformats.org/officeDocument/2006/relationships/image" Target="../media/image84.png"/><Relationship Id="rId30" Type="http://schemas.openxmlformats.org/officeDocument/2006/relationships/image" Target="../media/image87.png"/><Relationship Id="rId35" Type="http://schemas.openxmlformats.org/officeDocument/2006/relationships/image" Target="../media/image92.png"/><Relationship Id="rId8" Type="http://schemas.openxmlformats.org/officeDocument/2006/relationships/image" Target="../media/image65.png"/><Relationship Id="rId3" Type="http://schemas.openxmlformats.org/officeDocument/2006/relationships/image" Target="../media/image60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6.png"/><Relationship Id="rId18" Type="http://schemas.openxmlformats.org/officeDocument/2006/relationships/image" Target="../media/image111.png"/><Relationship Id="rId26" Type="http://schemas.openxmlformats.org/officeDocument/2006/relationships/image" Target="../media/image119.png"/><Relationship Id="rId3" Type="http://schemas.openxmlformats.org/officeDocument/2006/relationships/image" Target="../media/image96.png"/><Relationship Id="rId21" Type="http://schemas.openxmlformats.org/officeDocument/2006/relationships/image" Target="../media/image114.png"/><Relationship Id="rId7" Type="http://schemas.openxmlformats.org/officeDocument/2006/relationships/image" Target="../media/image100.png"/><Relationship Id="rId12" Type="http://schemas.openxmlformats.org/officeDocument/2006/relationships/image" Target="../media/image105.png"/><Relationship Id="rId17" Type="http://schemas.openxmlformats.org/officeDocument/2006/relationships/image" Target="../media/image110.png"/><Relationship Id="rId25" Type="http://schemas.openxmlformats.org/officeDocument/2006/relationships/image" Target="../media/image118.png"/><Relationship Id="rId33" Type="http://schemas.openxmlformats.org/officeDocument/2006/relationships/image" Target="../media/image126.png"/><Relationship Id="rId2" Type="http://schemas.openxmlformats.org/officeDocument/2006/relationships/image" Target="../media/image95.png"/><Relationship Id="rId16" Type="http://schemas.openxmlformats.org/officeDocument/2006/relationships/image" Target="../media/image109.png"/><Relationship Id="rId20" Type="http://schemas.openxmlformats.org/officeDocument/2006/relationships/image" Target="../media/image113.png"/><Relationship Id="rId29" Type="http://schemas.openxmlformats.org/officeDocument/2006/relationships/image" Target="../media/image1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png"/><Relationship Id="rId11" Type="http://schemas.openxmlformats.org/officeDocument/2006/relationships/image" Target="../media/image104.png"/><Relationship Id="rId24" Type="http://schemas.openxmlformats.org/officeDocument/2006/relationships/image" Target="../media/image117.png"/><Relationship Id="rId32" Type="http://schemas.openxmlformats.org/officeDocument/2006/relationships/image" Target="../media/image125.png"/><Relationship Id="rId5" Type="http://schemas.openxmlformats.org/officeDocument/2006/relationships/image" Target="../media/image98.png"/><Relationship Id="rId15" Type="http://schemas.openxmlformats.org/officeDocument/2006/relationships/image" Target="../media/image108.png"/><Relationship Id="rId23" Type="http://schemas.openxmlformats.org/officeDocument/2006/relationships/image" Target="../media/image116.png"/><Relationship Id="rId28" Type="http://schemas.openxmlformats.org/officeDocument/2006/relationships/image" Target="../media/image121.png"/><Relationship Id="rId10" Type="http://schemas.openxmlformats.org/officeDocument/2006/relationships/image" Target="../media/image103.png"/><Relationship Id="rId19" Type="http://schemas.openxmlformats.org/officeDocument/2006/relationships/image" Target="../media/image112.png"/><Relationship Id="rId31" Type="http://schemas.openxmlformats.org/officeDocument/2006/relationships/image" Target="../media/image124.png"/><Relationship Id="rId4" Type="http://schemas.openxmlformats.org/officeDocument/2006/relationships/image" Target="../media/image97.png"/><Relationship Id="rId9" Type="http://schemas.openxmlformats.org/officeDocument/2006/relationships/image" Target="../media/image102.png"/><Relationship Id="rId14" Type="http://schemas.openxmlformats.org/officeDocument/2006/relationships/image" Target="../media/image107.png"/><Relationship Id="rId22" Type="http://schemas.openxmlformats.org/officeDocument/2006/relationships/image" Target="../media/image115.png"/><Relationship Id="rId27" Type="http://schemas.openxmlformats.org/officeDocument/2006/relationships/image" Target="../media/image120.png"/><Relationship Id="rId30" Type="http://schemas.openxmlformats.org/officeDocument/2006/relationships/image" Target="../media/image123.png"/><Relationship Id="rId8" Type="http://schemas.openxmlformats.org/officeDocument/2006/relationships/image" Target="../media/image101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8.png"/><Relationship Id="rId18" Type="http://schemas.openxmlformats.org/officeDocument/2006/relationships/image" Target="../media/image143.png"/><Relationship Id="rId26" Type="http://schemas.openxmlformats.org/officeDocument/2006/relationships/image" Target="../media/image151.png"/><Relationship Id="rId21" Type="http://schemas.openxmlformats.org/officeDocument/2006/relationships/image" Target="../media/image146.png"/><Relationship Id="rId34" Type="http://schemas.openxmlformats.org/officeDocument/2006/relationships/image" Target="../media/image159.png"/><Relationship Id="rId7" Type="http://schemas.openxmlformats.org/officeDocument/2006/relationships/image" Target="../media/image132.png"/><Relationship Id="rId12" Type="http://schemas.openxmlformats.org/officeDocument/2006/relationships/image" Target="../media/image137.png"/><Relationship Id="rId17" Type="http://schemas.openxmlformats.org/officeDocument/2006/relationships/image" Target="../media/image142.png"/><Relationship Id="rId25" Type="http://schemas.openxmlformats.org/officeDocument/2006/relationships/image" Target="../media/image150.png"/><Relationship Id="rId33" Type="http://schemas.openxmlformats.org/officeDocument/2006/relationships/image" Target="../media/image158.png"/><Relationship Id="rId2" Type="http://schemas.openxmlformats.org/officeDocument/2006/relationships/image" Target="../media/image127.png"/><Relationship Id="rId16" Type="http://schemas.openxmlformats.org/officeDocument/2006/relationships/image" Target="../media/image141.png"/><Relationship Id="rId20" Type="http://schemas.openxmlformats.org/officeDocument/2006/relationships/image" Target="../media/image145.png"/><Relationship Id="rId29" Type="http://schemas.openxmlformats.org/officeDocument/2006/relationships/image" Target="../media/image1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1.png"/><Relationship Id="rId11" Type="http://schemas.openxmlformats.org/officeDocument/2006/relationships/image" Target="../media/image136.png"/><Relationship Id="rId24" Type="http://schemas.openxmlformats.org/officeDocument/2006/relationships/image" Target="../media/image149.png"/><Relationship Id="rId32" Type="http://schemas.openxmlformats.org/officeDocument/2006/relationships/image" Target="../media/image157.png"/><Relationship Id="rId37" Type="http://schemas.openxmlformats.org/officeDocument/2006/relationships/image" Target="../media/image162.png"/><Relationship Id="rId5" Type="http://schemas.openxmlformats.org/officeDocument/2006/relationships/image" Target="../media/image130.png"/><Relationship Id="rId15" Type="http://schemas.openxmlformats.org/officeDocument/2006/relationships/image" Target="../media/image140.png"/><Relationship Id="rId23" Type="http://schemas.openxmlformats.org/officeDocument/2006/relationships/image" Target="../media/image148.png"/><Relationship Id="rId28" Type="http://schemas.openxmlformats.org/officeDocument/2006/relationships/image" Target="../media/image153.png"/><Relationship Id="rId36" Type="http://schemas.openxmlformats.org/officeDocument/2006/relationships/image" Target="../media/image161.png"/><Relationship Id="rId10" Type="http://schemas.openxmlformats.org/officeDocument/2006/relationships/image" Target="../media/image135.png"/><Relationship Id="rId19" Type="http://schemas.openxmlformats.org/officeDocument/2006/relationships/image" Target="../media/image144.png"/><Relationship Id="rId31" Type="http://schemas.openxmlformats.org/officeDocument/2006/relationships/image" Target="../media/image156.png"/><Relationship Id="rId4" Type="http://schemas.openxmlformats.org/officeDocument/2006/relationships/image" Target="../media/image129.png"/><Relationship Id="rId9" Type="http://schemas.openxmlformats.org/officeDocument/2006/relationships/image" Target="../media/image134.png"/><Relationship Id="rId14" Type="http://schemas.openxmlformats.org/officeDocument/2006/relationships/image" Target="../media/image139.png"/><Relationship Id="rId22" Type="http://schemas.openxmlformats.org/officeDocument/2006/relationships/image" Target="../media/image147.png"/><Relationship Id="rId27" Type="http://schemas.openxmlformats.org/officeDocument/2006/relationships/image" Target="../media/image152.png"/><Relationship Id="rId30" Type="http://schemas.openxmlformats.org/officeDocument/2006/relationships/image" Target="../media/image155.png"/><Relationship Id="rId35" Type="http://schemas.openxmlformats.org/officeDocument/2006/relationships/image" Target="../media/image160.png"/><Relationship Id="rId8" Type="http://schemas.openxmlformats.org/officeDocument/2006/relationships/image" Target="../media/image133.png"/><Relationship Id="rId3" Type="http://schemas.openxmlformats.org/officeDocument/2006/relationships/image" Target="../media/image12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png"/><Relationship Id="rId13" Type="http://schemas.openxmlformats.org/officeDocument/2006/relationships/image" Target="../media/image174.png"/><Relationship Id="rId18" Type="http://schemas.openxmlformats.org/officeDocument/2006/relationships/image" Target="../media/image179.png"/><Relationship Id="rId3" Type="http://schemas.openxmlformats.org/officeDocument/2006/relationships/image" Target="../media/image164.png"/><Relationship Id="rId21" Type="http://schemas.openxmlformats.org/officeDocument/2006/relationships/image" Target="../media/image182.png"/><Relationship Id="rId7" Type="http://schemas.openxmlformats.org/officeDocument/2006/relationships/image" Target="../media/image168.png"/><Relationship Id="rId12" Type="http://schemas.openxmlformats.org/officeDocument/2006/relationships/image" Target="../media/image173.png"/><Relationship Id="rId17" Type="http://schemas.openxmlformats.org/officeDocument/2006/relationships/image" Target="../media/image178.png"/><Relationship Id="rId2" Type="http://schemas.openxmlformats.org/officeDocument/2006/relationships/image" Target="../media/image163.png"/><Relationship Id="rId16" Type="http://schemas.openxmlformats.org/officeDocument/2006/relationships/image" Target="../media/image177.png"/><Relationship Id="rId20" Type="http://schemas.openxmlformats.org/officeDocument/2006/relationships/image" Target="../media/image1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7.png"/><Relationship Id="rId11" Type="http://schemas.openxmlformats.org/officeDocument/2006/relationships/image" Target="../media/image172.png"/><Relationship Id="rId5" Type="http://schemas.openxmlformats.org/officeDocument/2006/relationships/image" Target="../media/image166.png"/><Relationship Id="rId15" Type="http://schemas.openxmlformats.org/officeDocument/2006/relationships/image" Target="../media/image176.png"/><Relationship Id="rId10" Type="http://schemas.openxmlformats.org/officeDocument/2006/relationships/image" Target="../media/image171.png"/><Relationship Id="rId19" Type="http://schemas.openxmlformats.org/officeDocument/2006/relationships/image" Target="../media/image180.png"/><Relationship Id="rId4" Type="http://schemas.openxmlformats.org/officeDocument/2006/relationships/image" Target="../media/image165.png"/><Relationship Id="rId9" Type="http://schemas.openxmlformats.org/officeDocument/2006/relationships/image" Target="../media/image170.png"/><Relationship Id="rId14" Type="http://schemas.openxmlformats.org/officeDocument/2006/relationships/image" Target="../media/image175.png"/><Relationship Id="rId22" Type="http://schemas.openxmlformats.org/officeDocument/2006/relationships/image" Target="../media/image18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654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915732" y="2142670"/>
            <a:ext cx="10456536" cy="437279"/>
          </a:xfrm>
          <a:custGeom>
            <a:avLst/>
            <a:gdLst/>
            <a:ahLst/>
            <a:cxnLst/>
            <a:rect l="l" t="t" r="r" b="b"/>
            <a:pathLst>
              <a:path w="10456536" h="437279">
                <a:moveTo>
                  <a:pt x="0" y="0"/>
                </a:moveTo>
                <a:lnTo>
                  <a:pt x="10456536" y="0"/>
                </a:lnTo>
                <a:lnTo>
                  <a:pt x="1045653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714544" y="2589474"/>
            <a:ext cx="11133576" cy="799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8"/>
              </a:lnSpc>
            </a:pPr>
            <a:r>
              <a:rPr lang="en-US" sz="2723" b="1">
                <a:solidFill>
                  <a:srgbClr val="FFFFFF"/>
                </a:solidFill>
                <a:latin typeface="Now Medium"/>
                <a:ea typeface="Now Medium"/>
                <a:cs typeface="Now Medium"/>
                <a:sym typeface="Now Medium"/>
              </a:rPr>
              <a:t>A Constituent Unit of </a:t>
            </a:r>
          </a:p>
          <a:p>
            <a:pPr algn="ctr">
              <a:lnSpc>
                <a:spcPts val="3268"/>
              </a:lnSpc>
            </a:pPr>
            <a:r>
              <a:rPr lang="en-US" sz="2723" b="1">
                <a:solidFill>
                  <a:srgbClr val="FFFFFF"/>
                </a:solidFill>
                <a:latin typeface="Now Medium"/>
                <a:ea typeface="Now Medium"/>
                <a:cs typeface="Now Medium"/>
                <a:sym typeface="Now Medium"/>
              </a:rPr>
              <a:t>MALLA REDDY VISHWAVIDYAPEETH </a:t>
            </a:r>
          </a:p>
        </p:txBody>
      </p:sp>
      <p:sp>
        <p:nvSpPr>
          <p:cNvPr id="5" name="Freeform 5"/>
          <p:cNvSpPr/>
          <p:nvPr/>
        </p:nvSpPr>
        <p:spPr>
          <a:xfrm>
            <a:off x="864086" y="605845"/>
            <a:ext cx="2625072" cy="2372241"/>
          </a:xfrm>
          <a:custGeom>
            <a:avLst/>
            <a:gdLst/>
            <a:ahLst/>
            <a:cxnLst/>
            <a:rect l="l" t="t" r="r" b="b"/>
            <a:pathLst>
              <a:path w="2625072" h="2372241">
                <a:moveTo>
                  <a:pt x="0" y="0"/>
                </a:moveTo>
                <a:lnTo>
                  <a:pt x="2625072" y="0"/>
                </a:lnTo>
                <a:lnTo>
                  <a:pt x="2625072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925244" y="4285339"/>
            <a:ext cx="218756" cy="2361309"/>
          </a:xfrm>
          <a:custGeom>
            <a:avLst/>
            <a:gdLst/>
            <a:ahLst/>
            <a:cxnLst/>
            <a:rect l="l" t="t" r="r" b="b"/>
            <a:pathLst>
              <a:path w="218756" h="2361309">
                <a:moveTo>
                  <a:pt x="0" y="0"/>
                </a:moveTo>
                <a:lnTo>
                  <a:pt x="218756" y="0"/>
                </a:lnTo>
                <a:lnTo>
                  <a:pt x="218756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564488" y="398138"/>
            <a:ext cx="2187560" cy="2579949"/>
          </a:xfrm>
          <a:custGeom>
            <a:avLst/>
            <a:gdLst/>
            <a:ahLst/>
            <a:cxnLst/>
            <a:rect l="l" t="t" r="r" b="b"/>
            <a:pathLst>
              <a:path w="2187560" h="2579949">
                <a:moveTo>
                  <a:pt x="0" y="0"/>
                </a:moveTo>
                <a:lnTo>
                  <a:pt x="2187560" y="0"/>
                </a:lnTo>
                <a:lnTo>
                  <a:pt x="2187560" y="2579948"/>
                </a:lnTo>
                <a:lnTo>
                  <a:pt x="0" y="25799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324516" y="4048844"/>
            <a:ext cx="3913632" cy="612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8"/>
              </a:lnSpc>
            </a:pPr>
            <a:r>
              <a:rPr lang="en-US" sz="2023" b="1">
                <a:solidFill>
                  <a:srgbClr val="FFFFFF"/>
                </a:solidFill>
                <a:latin typeface="Now Medium"/>
                <a:ea typeface="Now Medium"/>
                <a:cs typeface="Now Medium"/>
                <a:sym typeface="Now Medium"/>
              </a:rPr>
              <a:t>Maisammaguda, Medchal (Dist), Hyderabad, Telangana</a:t>
            </a:r>
          </a:p>
        </p:txBody>
      </p:sp>
      <p:sp>
        <p:nvSpPr>
          <p:cNvPr id="9" name="Freeform 9"/>
          <p:cNvSpPr/>
          <p:nvPr/>
        </p:nvSpPr>
        <p:spPr>
          <a:xfrm>
            <a:off x="4134488" y="9423373"/>
            <a:ext cx="875024" cy="863627"/>
          </a:xfrm>
          <a:custGeom>
            <a:avLst/>
            <a:gdLst/>
            <a:ahLst/>
            <a:cxnLst/>
            <a:rect l="l" t="t" r="r" b="b"/>
            <a:pathLst>
              <a:path w="875024" h="863627">
                <a:moveTo>
                  <a:pt x="0" y="0"/>
                </a:moveTo>
                <a:lnTo>
                  <a:pt x="875024" y="0"/>
                </a:lnTo>
                <a:lnTo>
                  <a:pt x="87502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084064" y="9728261"/>
            <a:ext cx="8705088" cy="284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9"/>
              </a:lnSpc>
            </a:pPr>
            <a:r>
              <a:rPr lang="en-US" sz="1916" b="1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EDUCATION      INNOVATION      EXCELLENCE      SERVICE TO SOCIETY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43216" y="3560366"/>
            <a:ext cx="3474720" cy="317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4"/>
              </a:lnSpc>
            </a:pPr>
            <a:r>
              <a:rPr lang="en-US" sz="2095" b="1">
                <a:solidFill>
                  <a:srgbClr val="FFFFFF"/>
                </a:solidFill>
                <a:latin typeface="Now Medium"/>
                <a:ea typeface="Now Medium"/>
                <a:cs typeface="Now Medium"/>
                <a:sym typeface="Now Medium"/>
              </a:rPr>
              <a:t>(Deemed to be University)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986784" y="1225328"/>
            <a:ext cx="10387584" cy="1180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28"/>
              </a:lnSpc>
            </a:pPr>
            <a:r>
              <a:rPr lang="en-US" sz="7690" b="1">
                <a:solidFill>
                  <a:srgbClr val="1A79E1"/>
                </a:solidFill>
                <a:latin typeface="Now Bold"/>
                <a:ea typeface="Now Bold"/>
                <a:cs typeface="Now Bold"/>
                <a:sym typeface="Now Bold"/>
              </a:rPr>
              <a:t>TECHNICAL CAMPUS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05856" y="196628"/>
            <a:ext cx="6876288" cy="1180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28"/>
              </a:lnSpc>
            </a:pPr>
            <a:r>
              <a:rPr lang="en-US" sz="7690" b="1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MALLA REDDY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5172075"/>
            <a:ext cx="6594791" cy="72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5"/>
              </a:lnSpc>
            </a:pPr>
            <a:r>
              <a:rPr lang="en-US" sz="5004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PRESENTRED BY: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64086" y="7151473"/>
            <a:ext cx="12991532" cy="1806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7"/>
              </a:lnSpc>
            </a:pPr>
            <a:r>
              <a:rPr lang="en-US" sz="3650" dirty="0">
                <a:solidFill>
                  <a:srgbClr val="FFFFFF"/>
                </a:solidFill>
                <a:latin typeface="Le Jour Serif"/>
                <a:ea typeface="Le Jour Serif"/>
                <a:cs typeface="Le Jour Serif"/>
                <a:sym typeface="Le Jour Serif"/>
              </a:rPr>
              <a:t> K.V.S AKSHITH--25MVCSMR0232(L)</a:t>
            </a:r>
          </a:p>
          <a:p>
            <a:pPr algn="ctr">
              <a:lnSpc>
                <a:spcPts val="3467"/>
              </a:lnSpc>
            </a:pPr>
            <a:r>
              <a:rPr lang="en-US" sz="3650" dirty="0">
                <a:solidFill>
                  <a:srgbClr val="FFFFFF"/>
                </a:solidFill>
                <a:latin typeface="Le Jour Serif"/>
                <a:ea typeface="Le Jour Serif"/>
                <a:cs typeface="Le Jour Serif"/>
                <a:sym typeface="Le Jour Serif"/>
              </a:rPr>
              <a:t>T. PRANAV TEJA--25MVCSMR0269</a:t>
            </a:r>
          </a:p>
          <a:p>
            <a:pPr algn="ctr">
              <a:lnSpc>
                <a:spcPts val="3467"/>
              </a:lnSpc>
            </a:pPr>
            <a:r>
              <a:rPr lang="en-US" sz="3650" dirty="0">
                <a:solidFill>
                  <a:srgbClr val="FFFFFF"/>
                </a:solidFill>
                <a:latin typeface="Le Jour Serif"/>
                <a:ea typeface="Le Jour Serif"/>
                <a:cs typeface="Le Jour Serif"/>
                <a:sym typeface="Le Jour Serif"/>
              </a:rPr>
              <a:t>M. SANJAY--25MVCSMR0246</a:t>
            </a:r>
          </a:p>
          <a:p>
            <a:pPr algn="ctr">
              <a:lnSpc>
                <a:spcPts val="3467"/>
              </a:lnSpc>
            </a:pPr>
            <a:r>
              <a:rPr lang="en-US" sz="3650" dirty="0">
                <a:solidFill>
                  <a:srgbClr val="FFFFFF"/>
                </a:solidFill>
                <a:latin typeface="Le Jour Serif"/>
                <a:ea typeface="Le Jour Serif"/>
                <a:cs typeface="Le Jour Serif"/>
                <a:sym typeface="Le Jour Serif"/>
              </a:rPr>
              <a:t>D. GOPI--25MVCSMR0210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64086" y="6083891"/>
            <a:ext cx="5099307" cy="761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61"/>
              </a:lnSpc>
            </a:pPr>
            <a:r>
              <a:rPr lang="en-US" sz="4849" spc="24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TEAM 19 -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080053" y="6306544"/>
            <a:ext cx="12991532" cy="6433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585"/>
              </a:lnSpc>
            </a:pPr>
            <a:r>
              <a:rPr lang="en-US" sz="7200" b="1" spc="-136" dirty="0">
                <a:solidFill>
                  <a:schemeClr val="bg1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Food Donation Marketplace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2400300" cy="2143125"/>
            <a:chOff x="0" y="0"/>
            <a:chExt cx="3200400" cy="28575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200400" cy="2857500"/>
            </a:xfrm>
            <a:custGeom>
              <a:avLst/>
              <a:gdLst/>
              <a:ahLst/>
              <a:cxnLst/>
              <a:rect l="l" t="t" r="r" b="b"/>
              <a:pathLst>
                <a:path w="3200400" h="2857500">
                  <a:moveTo>
                    <a:pt x="0" y="0"/>
                  </a:moveTo>
                  <a:lnTo>
                    <a:pt x="3200400" y="0"/>
                  </a:lnTo>
                  <a:lnTo>
                    <a:pt x="3200400" y="2857500"/>
                  </a:lnTo>
                  <a:lnTo>
                    <a:pt x="0" y="285750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0" y="8143875"/>
            <a:ext cx="2838450" cy="2143125"/>
            <a:chOff x="0" y="0"/>
            <a:chExt cx="3784600" cy="28575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784600" cy="2857500"/>
            </a:xfrm>
            <a:custGeom>
              <a:avLst/>
              <a:gdLst/>
              <a:ahLst/>
              <a:cxnLst/>
              <a:rect l="l" t="t" r="r" b="b"/>
              <a:pathLst>
                <a:path w="3784600" h="2857500">
                  <a:moveTo>
                    <a:pt x="0" y="0"/>
                  </a:moveTo>
                  <a:lnTo>
                    <a:pt x="3784600" y="0"/>
                  </a:lnTo>
                  <a:lnTo>
                    <a:pt x="3784600" y="2857500"/>
                  </a:lnTo>
                  <a:lnTo>
                    <a:pt x="0" y="28575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7829550" y="209550"/>
            <a:ext cx="2409825" cy="1724025"/>
            <a:chOff x="0" y="0"/>
            <a:chExt cx="3213100" cy="22987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213100" cy="2298700"/>
            </a:xfrm>
            <a:custGeom>
              <a:avLst/>
              <a:gdLst/>
              <a:ahLst/>
              <a:cxnLst/>
              <a:rect l="l" t="t" r="r" b="b"/>
              <a:pathLst>
                <a:path w="3213100" h="2298700">
                  <a:moveTo>
                    <a:pt x="0" y="0"/>
                  </a:moveTo>
                  <a:lnTo>
                    <a:pt x="3213100" y="0"/>
                  </a:lnTo>
                  <a:lnTo>
                    <a:pt x="3213100" y="2298700"/>
                  </a:lnTo>
                  <a:lnTo>
                    <a:pt x="0" y="229870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5219700" y="7067550"/>
            <a:ext cx="2619375" cy="3219450"/>
            <a:chOff x="0" y="0"/>
            <a:chExt cx="3492500" cy="42926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492500" cy="4292600"/>
            </a:xfrm>
            <a:custGeom>
              <a:avLst/>
              <a:gdLst/>
              <a:ahLst/>
              <a:cxnLst/>
              <a:rect l="l" t="t" r="r" b="b"/>
              <a:pathLst>
                <a:path w="3492500" h="4292600">
                  <a:moveTo>
                    <a:pt x="0" y="0"/>
                  </a:moveTo>
                  <a:lnTo>
                    <a:pt x="3492500" y="0"/>
                  </a:lnTo>
                  <a:lnTo>
                    <a:pt x="3492500" y="4292600"/>
                  </a:lnTo>
                  <a:lnTo>
                    <a:pt x="0" y="429260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6524625" y="0"/>
            <a:ext cx="11763375" cy="10287000"/>
            <a:chOff x="0" y="0"/>
            <a:chExt cx="15684500" cy="13716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684500" cy="13716000"/>
            </a:xfrm>
            <a:custGeom>
              <a:avLst/>
              <a:gdLst/>
              <a:ahLst/>
              <a:cxnLst/>
              <a:rect l="l" t="t" r="r" b="b"/>
              <a:pathLst>
                <a:path w="15684500" h="13716000">
                  <a:moveTo>
                    <a:pt x="0" y="0"/>
                  </a:moveTo>
                  <a:lnTo>
                    <a:pt x="15684500" y="0"/>
                  </a:lnTo>
                  <a:lnTo>
                    <a:pt x="15684500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576384" y="1784893"/>
            <a:ext cx="3976481" cy="2340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13"/>
              </a:lnSpc>
            </a:pPr>
            <a:r>
              <a:rPr lang="en-US" sz="17513" dirty="0">
                <a:solidFill>
                  <a:srgbClr val="F8F0E3"/>
                </a:solidFill>
                <a:latin typeface="Bernoru Condensed"/>
                <a:ea typeface="Bernoru Condensed"/>
                <a:cs typeface="Bernoru Condensed"/>
                <a:sym typeface="Bernoru Condensed"/>
              </a:rPr>
              <a:t>Food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498696" y="1784893"/>
            <a:ext cx="5544443" cy="2340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13"/>
              </a:lnSpc>
            </a:pPr>
            <a:r>
              <a:rPr lang="en-US" sz="17513" dirty="0">
                <a:solidFill>
                  <a:srgbClr val="EF9738"/>
                </a:solidFill>
                <a:latin typeface="Bernoru Condensed"/>
                <a:ea typeface="Bernoru Condensed"/>
                <a:cs typeface="Bernoru Condensed"/>
                <a:sym typeface="Bernoru Condensed"/>
              </a:rPr>
              <a:t>Bridge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428625" y="4067175"/>
            <a:ext cx="8067675" cy="1076325"/>
            <a:chOff x="0" y="0"/>
            <a:chExt cx="10756900" cy="14351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756900" cy="1435100"/>
            </a:xfrm>
            <a:custGeom>
              <a:avLst/>
              <a:gdLst/>
              <a:ahLst/>
              <a:cxnLst/>
              <a:rect l="l" t="t" r="r" b="b"/>
              <a:pathLst>
                <a:path w="10756900" h="1435100">
                  <a:moveTo>
                    <a:pt x="0" y="0"/>
                  </a:moveTo>
                  <a:lnTo>
                    <a:pt x="10756900" y="0"/>
                  </a:lnTo>
                  <a:lnTo>
                    <a:pt x="10756900" y="1435100"/>
                  </a:lnTo>
                  <a:lnTo>
                    <a:pt x="0" y="143510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754949" y="4375500"/>
            <a:ext cx="7551221" cy="602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85"/>
              </a:lnSpc>
            </a:pPr>
            <a:r>
              <a:rPr lang="en-US" sz="4585" b="1" spc="-136" dirty="0">
                <a:solidFill>
                  <a:srgbClr val="152D1E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Food Donation Marketplace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62847" y="5546527"/>
            <a:ext cx="8009034" cy="962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1"/>
              </a:lnSpc>
            </a:pPr>
            <a:r>
              <a:rPr lang="en-US" sz="2970" spc="-147">
                <a:solidFill>
                  <a:srgbClr val="F8F0E3"/>
                </a:solidFill>
                <a:latin typeface="DM Sans"/>
                <a:ea typeface="DM Sans"/>
                <a:cs typeface="DM Sans"/>
                <a:sym typeface="DM Sans"/>
              </a:rPr>
              <a:t>Connecting surplus food with people who need it </a:t>
            </a:r>
            <a:r>
              <a:rPr lang="en-US" sz="2970" b="1" spc="-147">
                <a:solidFill>
                  <a:srgbClr val="F8F0E3"/>
                </a:solidFill>
                <a:latin typeface="DM Sans Bold"/>
                <a:ea typeface="DM Sans Bold"/>
                <a:cs typeface="DM Sans Bold"/>
                <a:sym typeface="DM Sans Bold"/>
              </a:rPr>
              <a:t>most.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428625" y="7067550"/>
            <a:ext cx="5457825" cy="1076325"/>
            <a:chOff x="0" y="0"/>
            <a:chExt cx="7277100" cy="14351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277100" cy="1435100"/>
            </a:xfrm>
            <a:custGeom>
              <a:avLst/>
              <a:gdLst/>
              <a:ahLst/>
              <a:cxnLst/>
              <a:rect l="l" t="t" r="r" b="b"/>
              <a:pathLst>
                <a:path w="7277100" h="1435100">
                  <a:moveTo>
                    <a:pt x="0" y="0"/>
                  </a:moveTo>
                  <a:lnTo>
                    <a:pt x="7277100" y="0"/>
                  </a:lnTo>
                  <a:lnTo>
                    <a:pt x="7277100" y="1435100"/>
                  </a:lnTo>
                  <a:lnTo>
                    <a:pt x="0" y="143510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647700" y="7067550"/>
            <a:ext cx="876300" cy="866775"/>
            <a:chOff x="0" y="0"/>
            <a:chExt cx="1168400" cy="11557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168400" cy="1155700"/>
            </a:xfrm>
            <a:custGeom>
              <a:avLst/>
              <a:gdLst/>
              <a:ahLst/>
              <a:cxnLst/>
              <a:rect l="l" t="t" r="r" b="b"/>
              <a:pathLst>
                <a:path w="1168400" h="1155700">
                  <a:moveTo>
                    <a:pt x="0" y="0"/>
                  </a:moveTo>
                  <a:lnTo>
                    <a:pt x="1168400" y="0"/>
                  </a:lnTo>
                  <a:lnTo>
                    <a:pt x="1168400" y="1155700"/>
                  </a:lnTo>
                  <a:lnTo>
                    <a:pt x="0" y="115570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sp>
        <p:nvSpPr>
          <p:cNvPr id="25" name="TextBox 25"/>
          <p:cNvSpPr txBox="1"/>
          <p:nvPr/>
        </p:nvSpPr>
        <p:spPr>
          <a:xfrm>
            <a:off x="1592625" y="7294990"/>
            <a:ext cx="4150810" cy="406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3"/>
              </a:lnSpc>
            </a:pPr>
            <a:r>
              <a:rPr lang="en-US" sz="2487" b="1" spc="-123">
                <a:solidFill>
                  <a:srgbClr val="F8F0E3"/>
                </a:solidFill>
                <a:latin typeface="DM Sans Bold"/>
                <a:ea typeface="DM Sans Bold"/>
                <a:cs typeface="DM Sans Bold"/>
                <a:sym typeface="DM Sans Bold"/>
              </a:rPr>
              <a:t>foodbridge-six-jet.vercel.app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9144000" cy="10287000"/>
            <a:chOff x="0" y="0"/>
            <a:chExt cx="12192000" cy="1371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192000" cy="13716000"/>
            </a:xfrm>
            <a:custGeom>
              <a:avLst/>
              <a:gdLst/>
              <a:ahLst/>
              <a:cxnLst/>
              <a:rect l="l" t="t" r="r" b="b"/>
              <a:pathLst>
                <a:path w="12192000" h="13716000">
                  <a:moveTo>
                    <a:pt x="0" y="0"/>
                  </a:moveTo>
                  <a:lnTo>
                    <a:pt x="12192000" y="0"/>
                  </a:lnTo>
                  <a:lnTo>
                    <a:pt x="12192000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9144000" y="0"/>
            <a:ext cx="9144000" cy="10287000"/>
            <a:chOff x="0" y="0"/>
            <a:chExt cx="12192000" cy="13716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192000" cy="13716000"/>
            </a:xfrm>
            <a:custGeom>
              <a:avLst/>
              <a:gdLst/>
              <a:ahLst/>
              <a:cxnLst/>
              <a:rect l="l" t="t" r="r" b="b"/>
              <a:pathLst>
                <a:path w="12192000" h="13716000">
                  <a:moveTo>
                    <a:pt x="0" y="0"/>
                  </a:moveTo>
                  <a:lnTo>
                    <a:pt x="12192000" y="0"/>
                  </a:lnTo>
                  <a:lnTo>
                    <a:pt x="12192000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428625" y="209550"/>
            <a:ext cx="1095375" cy="647700"/>
            <a:chOff x="0" y="0"/>
            <a:chExt cx="1460500" cy="863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60500" cy="863600"/>
            </a:xfrm>
            <a:custGeom>
              <a:avLst/>
              <a:gdLst/>
              <a:ahLst/>
              <a:cxnLst/>
              <a:rect l="l" t="t" r="r" b="b"/>
              <a:pathLst>
                <a:path w="1460500" h="863600">
                  <a:moveTo>
                    <a:pt x="0" y="0"/>
                  </a:moveTo>
                  <a:lnTo>
                    <a:pt x="1460500" y="0"/>
                  </a:lnTo>
                  <a:lnTo>
                    <a:pt x="1460500" y="863600"/>
                  </a:lnTo>
                  <a:lnTo>
                    <a:pt x="0" y="86360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737612" y="901548"/>
            <a:ext cx="6606034" cy="2384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44"/>
              </a:lnSpc>
            </a:pPr>
            <a:r>
              <a:rPr lang="en-US" sz="8600" b="1" spc="-83">
                <a:solidFill>
                  <a:srgbClr val="F8F4EC"/>
                </a:solidFill>
                <a:latin typeface="Poppins Bold"/>
                <a:ea typeface="Poppins Bold"/>
                <a:cs typeface="Poppins Bold"/>
                <a:sym typeface="Poppins Bold"/>
              </a:rPr>
              <a:t>Food waste and hunger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9157" y="3242731"/>
            <a:ext cx="4451449" cy="1282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88"/>
              </a:lnSpc>
            </a:pPr>
            <a:r>
              <a:rPr lang="en-US" sz="8738" b="1" spc="-85">
                <a:solidFill>
                  <a:srgbClr val="F3943B"/>
                </a:solidFill>
                <a:latin typeface="Poppins Bold"/>
                <a:ea typeface="Poppins Bold"/>
                <a:cs typeface="Poppins Bold"/>
                <a:sym typeface="Poppins Bold"/>
              </a:rPr>
              <a:t>coexist.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47700" y="4495800"/>
            <a:ext cx="7848600" cy="1295400"/>
            <a:chOff x="0" y="0"/>
            <a:chExt cx="10464800" cy="1727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464800" cy="1727200"/>
            </a:xfrm>
            <a:custGeom>
              <a:avLst/>
              <a:gdLst/>
              <a:ahLst/>
              <a:cxnLst/>
              <a:rect l="l" t="t" r="r" b="b"/>
              <a:pathLst>
                <a:path w="10464800" h="1727200">
                  <a:moveTo>
                    <a:pt x="0" y="0"/>
                  </a:moveTo>
                  <a:lnTo>
                    <a:pt x="10464800" y="0"/>
                  </a:lnTo>
                  <a:lnTo>
                    <a:pt x="10464800" y="1727200"/>
                  </a:lnTo>
                  <a:lnTo>
                    <a:pt x="0" y="172720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866775" y="4495800"/>
            <a:ext cx="1095375" cy="1076325"/>
            <a:chOff x="0" y="0"/>
            <a:chExt cx="1460500" cy="14351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60500" cy="1435100"/>
            </a:xfrm>
            <a:custGeom>
              <a:avLst/>
              <a:gdLst/>
              <a:ahLst/>
              <a:cxnLst/>
              <a:rect l="l" t="t" r="r" b="b"/>
              <a:pathLst>
                <a:path w="1460500" h="1435100">
                  <a:moveTo>
                    <a:pt x="0" y="0"/>
                  </a:moveTo>
                  <a:lnTo>
                    <a:pt x="1460500" y="0"/>
                  </a:lnTo>
                  <a:lnTo>
                    <a:pt x="1460500" y="1435100"/>
                  </a:lnTo>
                  <a:lnTo>
                    <a:pt x="0" y="143510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085850" y="4714875"/>
            <a:ext cx="657225" cy="647700"/>
            <a:chOff x="0" y="0"/>
            <a:chExt cx="876300" cy="8636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76300" cy="863600"/>
            </a:xfrm>
            <a:custGeom>
              <a:avLst/>
              <a:gdLst/>
              <a:ahLst/>
              <a:cxnLst/>
              <a:rect l="l" t="t" r="r" b="b"/>
              <a:pathLst>
                <a:path w="876300" h="863600">
                  <a:moveTo>
                    <a:pt x="0" y="0"/>
                  </a:moveTo>
                  <a:lnTo>
                    <a:pt x="876300" y="0"/>
                  </a:lnTo>
                  <a:lnTo>
                    <a:pt x="876300" y="863600"/>
                  </a:lnTo>
                  <a:lnTo>
                    <a:pt x="0" y="86360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1982391" y="4944471"/>
            <a:ext cx="6643688" cy="332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4"/>
              </a:lnSpc>
            </a:pPr>
            <a:r>
              <a:rPr lang="en-US" sz="2321" b="1" spc="-46">
                <a:solidFill>
                  <a:srgbClr val="203327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Safe surplus food is often available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647700" y="5572125"/>
            <a:ext cx="7848600" cy="1285875"/>
            <a:chOff x="0" y="0"/>
            <a:chExt cx="10464800" cy="17145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464800" cy="1714500"/>
            </a:xfrm>
            <a:custGeom>
              <a:avLst/>
              <a:gdLst/>
              <a:ahLst/>
              <a:cxnLst/>
              <a:rect l="l" t="t" r="r" b="b"/>
              <a:pathLst>
                <a:path w="10464800" h="1714500">
                  <a:moveTo>
                    <a:pt x="0" y="0"/>
                  </a:moveTo>
                  <a:lnTo>
                    <a:pt x="10464800" y="0"/>
                  </a:lnTo>
                  <a:lnTo>
                    <a:pt x="10464800" y="1714500"/>
                  </a:lnTo>
                  <a:lnTo>
                    <a:pt x="0" y="171450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866775" y="5781675"/>
            <a:ext cx="1095375" cy="1076325"/>
            <a:chOff x="0" y="0"/>
            <a:chExt cx="1460500" cy="14351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460500" cy="1435100"/>
            </a:xfrm>
            <a:custGeom>
              <a:avLst/>
              <a:gdLst/>
              <a:ahLst/>
              <a:cxnLst/>
              <a:rect l="l" t="t" r="r" b="b"/>
              <a:pathLst>
                <a:path w="1460500" h="1435100">
                  <a:moveTo>
                    <a:pt x="0" y="0"/>
                  </a:moveTo>
                  <a:lnTo>
                    <a:pt x="1460500" y="0"/>
                  </a:lnTo>
                  <a:lnTo>
                    <a:pt x="1460500" y="1435100"/>
                  </a:lnTo>
                  <a:lnTo>
                    <a:pt x="0" y="143510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1085850" y="6000750"/>
            <a:ext cx="657225" cy="428625"/>
            <a:chOff x="0" y="0"/>
            <a:chExt cx="876300" cy="5715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76300" cy="571500"/>
            </a:xfrm>
            <a:custGeom>
              <a:avLst/>
              <a:gdLst/>
              <a:ahLst/>
              <a:cxnLst/>
              <a:rect l="l" t="t" r="r" b="b"/>
              <a:pathLst>
                <a:path w="876300" h="571500">
                  <a:moveTo>
                    <a:pt x="0" y="0"/>
                  </a:moveTo>
                  <a:lnTo>
                    <a:pt x="876300" y="0"/>
                  </a:lnTo>
                  <a:lnTo>
                    <a:pt x="8763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sp>
        <p:nvSpPr>
          <p:cNvPr id="26" name="TextBox 26"/>
          <p:cNvSpPr txBox="1"/>
          <p:nvPr/>
        </p:nvSpPr>
        <p:spPr>
          <a:xfrm>
            <a:off x="1982391" y="6059565"/>
            <a:ext cx="6643688" cy="332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4"/>
              </a:lnSpc>
            </a:pPr>
            <a:r>
              <a:rPr lang="en-US" sz="2321" b="1" spc="-46">
                <a:solidFill>
                  <a:srgbClr val="203327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Too many people face food insecurity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647700" y="6858000"/>
            <a:ext cx="7848600" cy="1076325"/>
            <a:chOff x="0" y="0"/>
            <a:chExt cx="10464800" cy="14351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464800" cy="1435100"/>
            </a:xfrm>
            <a:custGeom>
              <a:avLst/>
              <a:gdLst/>
              <a:ahLst/>
              <a:cxnLst/>
              <a:rect l="l" t="t" r="r" b="b"/>
              <a:pathLst>
                <a:path w="10464800" h="1435100">
                  <a:moveTo>
                    <a:pt x="0" y="0"/>
                  </a:moveTo>
                  <a:lnTo>
                    <a:pt x="10464800" y="0"/>
                  </a:lnTo>
                  <a:lnTo>
                    <a:pt x="10464800" y="1435100"/>
                  </a:lnTo>
                  <a:lnTo>
                    <a:pt x="0" y="143510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</p:grpSp>
      <p:grpSp>
        <p:nvGrpSpPr>
          <p:cNvPr id="29" name="Group 29"/>
          <p:cNvGrpSpPr/>
          <p:nvPr/>
        </p:nvGrpSpPr>
        <p:grpSpPr>
          <a:xfrm>
            <a:off x="866775" y="6858000"/>
            <a:ext cx="1095375" cy="1076325"/>
            <a:chOff x="0" y="0"/>
            <a:chExt cx="1460500" cy="14351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460500" cy="1435100"/>
            </a:xfrm>
            <a:custGeom>
              <a:avLst/>
              <a:gdLst/>
              <a:ahLst/>
              <a:cxnLst/>
              <a:rect l="l" t="t" r="r" b="b"/>
              <a:pathLst>
                <a:path w="1460500" h="1435100">
                  <a:moveTo>
                    <a:pt x="0" y="0"/>
                  </a:moveTo>
                  <a:lnTo>
                    <a:pt x="1460500" y="0"/>
                  </a:lnTo>
                  <a:lnTo>
                    <a:pt x="1460500" y="1435100"/>
                  </a:lnTo>
                  <a:lnTo>
                    <a:pt x="0" y="1435100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</p:sp>
      </p:grpSp>
      <p:grpSp>
        <p:nvGrpSpPr>
          <p:cNvPr id="31" name="Group 31"/>
          <p:cNvGrpSpPr/>
          <p:nvPr/>
        </p:nvGrpSpPr>
        <p:grpSpPr>
          <a:xfrm>
            <a:off x="1085850" y="7067550"/>
            <a:ext cx="657225" cy="647700"/>
            <a:chOff x="0" y="0"/>
            <a:chExt cx="876300" cy="8636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76300" cy="863600"/>
            </a:xfrm>
            <a:custGeom>
              <a:avLst/>
              <a:gdLst/>
              <a:ahLst/>
              <a:cxnLst/>
              <a:rect l="l" t="t" r="r" b="b"/>
              <a:pathLst>
                <a:path w="876300" h="863600">
                  <a:moveTo>
                    <a:pt x="0" y="0"/>
                  </a:moveTo>
                  <a:lnTo>
                    <a:pt x="876300" y="0"/>
                  </a:lnTo>
                  <a:lnTo>
                    <a:pt x="876300" y="863600"/>
                  </a:lnTo>
                  <a:lnTo>
                    <a:pt x="0" y="86360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</p:sp>
      </p:grpSp>
      <p:sp>
        <p:nvSpPr>
          <p:cNvPr id="33" name="TextBox 33"/>
          <p:cNvSpPr txBox="1"/>
          <p:nvPr/>
        </p:nvSpPr>
        <p:spPr>
          <a:xfrm>
            <a:off x="1982391" y="7189729"/>
            <a:ext cx="6643688" cy="332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4"/>
              </a:lnSpc>
            </a:pPr>
            <a:r>
              <a:rPr lang="en-US" sz="2321" b="1" spc="-46">
                <a:solidFill>
                  <a:srgbClr val="203327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Donors and recipients are not connected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647700" y="7924800"/>
            <a:ext cx="7848600" cy="1295400"/>
            <a:chOff x="0" y="0"/>
            <a:chExt cx="10464800" cy="17272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464800" cy="1727200"/>
            </a:xfrm>
            <a:custGeom>
              <a:avLst/>
              <a:gdLst/>
              <a:ahLst/>
              <a:cxnLst/>
              <a:rect l="l" t="t" r="r" b="b"/>
              <a:pathLst>
                <a:path w="10464800" h="1727200">
                  <a:moveTo>
                    <a:pt x="0" y="0"/>
                  </a:moveTo>
                  <a:lnTo>
                    <a:pt x="10464800" y="0"/>
                  </a:lnTo>
                  <a:lnTo>
                    <a:pt x="10464800" y="1727200"/>
                  </a:lnTo>
                  <a:lnTo>
                    <a:pt x="0" y="1727200"/>
                  </a:lnTo>
                  <a:close/>
                </a:path>
              </a:pathLst>
            </a:custGeom>
            <a:blipFill>
              <a:blip r:embed="rId16"/>
              <a:stretch>
                <a:fillRect/>
              </a:stretch>
            </a:blipFill>
          </p:spPr>
        </p:sp>
      </p:grpSp>
      <p:grpSp>
        <p:nvGrpSpPr>
          <p:cNvPr id="36" name="Group 36"/>
          <p:cNvGrpSpPr/>
          <p:nvPr/>
        </p:nvGrpSpPr>
        <p:grpSpPr>
          <a:xfrm>
            <a:off x="866775" y="7924800"/>
            <a:ext cx="1095375" cy="1076325"/>
            <a:chOff x="0" y="0"/>
            <a:chExt cx="1460500" cy="14351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460500" cy="1435100"/>
            </a:xfrm>
            <a:custGeom>
              <a:avLst/>
              <a:gdLst/>
              <a:ahLst/>
              <a:cxnLst/>
              <a:rect l="l" t="t" r="r" b="b"/>
              <a:pathLst>
                <a:path w="1460500" h="1435100">
                  <a:moveTo>
                    <a:pt x="0" y="0"/>
                  </a:moveTo>
                  <a:lnTo>
                    <a:pt x="1460500" y="0"/>
                  </a:lnTo>
                  <a:lnTo>
                    <a:pt x="1460500" y="1435100"/>
                  </a:lnTo>
                  <a:lnTo>
                    <a:pt x="0" y="1435100"/>
                  </a:lnTo>
                  <a:close/>
                </a:path>
              </a:pathLst>
            </a:custGeom>
            <a:blipFill>
              <a:blip r:embed="rId17"/>
              <a:stretch>
                <a:fillRect/>
              </a:stretch>
            </a:blipFill>
          </p:spPr>
        </p:sp>
      </p:grpSp>
      <p:grpSp>
        <p:nvGrpSpPr>
          <p:cNvPr id="38" name="Group 38"/>
          <p:cNvGrpSpPr/>
          <p:nvPr/>
        </p:nvGrpSpPr>
        <p:grpSpPr>
          <a:xfrm>
            <a:off x="1085850" y="8143875"/>
            <a:ext cx="657225" cy="647700"/>
            <a:chOff x="0" y="0"/>
            <a:chExt cx="876300" cy="8636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76300" cy="863600"/>
            </a:xfrm>
            <a:custGeom>
              <a:avLst/>
              <a:gdLst/>
              <a:ahLst/>
              <a:cxnLst/>
              <a:rect l="l" t="t" r="r" b="b"/>
              <a:pathLst>
                <a:path w="876300" h="863600">
                  <a:moveTo>
                    <a:pt x="0" y="0"/>
                  </a:moveTo>
                  <a:lnTo>
                    <a:pt x="876300" y="0"/>
                  </a:lnTo>
                  <a:lnTo>
                    <a:pt x="876300" y="863600"/>
                  </a:lnTo>
                  <a:lnTo>
                    <a:pt x="0" y="863600"/>
                  </a:lnTo>
                  <a:close/>
                </a:path>
              </a:pathLst>
            </a:custGeom>
            <a:blipFill>
              <a:blip r:embed="rId18"/>
              <a:stretch>
                <a:fillRect/>
              </a:stretch>
            </a:blipFill>
          </p:spPr>
        </p:sp>
      </p:grpSp>
      <p:sp>
        <p:nvSpPr>
          <p:cNvPr id="40" name="TextBox 40"/>
          <p:cNvSpPr txBox="1"/>
          <p:nvPr/>
        </p:nvSpPr>
        <p:spPr>
          <a:xfrm>
            <a:off x="1982391" y="8350030"/>
            <a:ext cx="6643688" cy="332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4"/>
              </a:lnSpc>
            </a:pPr>
            <a:r>
              <a:rPr lang="en-US" sz="2321" b="1" spc="-46">
                <a:solidFill>
                  <a:srgbClr val="203327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Without a simple platform, food goes to waste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9353550" y="209550"/>
            <a:ext cx="4362450" cy="9867900"/>
            <a:chOff x="0" y="0"/>
            <a:chExt cx="5816600" cy="131572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816600" cy="13157200"/>
            </a:xfrm>
            <a:custGeom>
              <a:avLst/>
              <a:gdLst/>
              <a:ahLst/>
              <a:cxnLst/>
              <a:rect l="l" t="t" r="r" b="b"/>
              <a:pathLst>
                <a:path w="5816600" h="13157200">
                  <a:moveTo>
                    <a:pt x="0" y="0"/>
                  </a:moveTo>
                  <a:lnTo>
                    <a:pt x="5816600" y="0"/>
                  </a:lnTo>
                  <a:lnTo>
                    <a:pt x="5816600" y="13157200"/>
                  </a:lnTo>
                  <a:lnTo>
                    <a:pt x="0" y="13157200"/>
                  </a:lnTo>
                  <a:close/>
                </a:path>
              </a:pathLst>
            </a:custGeom>
            <a:blipFill>
              <a:blip r:embed="rId19"/>
              <a:stretch>
                <a:fillRect/>
              </a:stretch>
            </a:blipFill>
          </p:spPr>
        </p:sp>
      </p:grpSp>
      <p:grpSp>
        <p:nvGrpSpPr>
          <p:cNvPr id="43" name="Group 43"/>
          <p:cNvGrpSpPr/>
          <p:nvPr/>
        </p:nvGrpSpPr>
        <p:grpSpPr>
          <a:xfrm>
            <a:off x="13716000" y="209550"/>
            <a:ext cx="4572000" cy="9867900"/>
            <a:chOff x="0" y="0"/>
            <a:chExt cx="6096000" cy="131572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096000" cy="13157200"/>
            </a:xfrm>
            <a:custGeom>
              <a:avLst/>
              <a:gdLst/>
              <a:ahLst/>
              <a:cxnLst/>
              <a:rect l="l" t="t" r="r" b="b"/>
              <a:pathLst>
                <a:path w="6096000" h="13157200">
                  <a:moveTo>
                    <a:pt x="0" y="0"/>
                  </a:moveTo>
                  <a:lnTo>
                    <a:pt x="6096000" y="0"/>
                  </a:lnTo>
                  <a:lnTo>
                    <a:pt x="6096000" y="13157200"/>
                  </a:lnTo>
                  <a:lnTo>
                    <a:pt x="0" y="13157200"/>
                  </a:lnTo>
                  <a:close/>
                </a:path>
              </a:pathLst>
            </a:custGeom>
            <a:blipFill>
              <a:blip r:embed="rId20"/>
              <a:stretch>
                <a:fillRect/>
              </a:stretch>
            </a:blipFill>
          </p:spPr>
        </p:sp>
      </p:grpSp>
      <p:grpSp>
        <p:nvGrpSpPr>
          <p:cNvPr id="45" name="Group 45"/>
          <p:cNvGrpSpPr/>
          <p:nvPr/>
        </p:nvGrpSpPr>
        <p:grpSpPr>
          <a:xfrm>
            <a:off x="209550" y="9001125"/>
            <a:ext cx="666750" cy="1076325"/>
            <a:chOff x="0" y="0"/>
            <a:chExt cx="889000" cy="14351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89000" cy="1435100"/>
            </a:xfrm>
            <a:custGeom>
              <a:avLst/>
              <a:gdLst/>
              <a:ahLst/>
              <a:cxnLst/>
              <a:rect l="l" t="t" r="r" b="b"/>
              <a:pathLst>
                <a:path w="889000" h="1435100">
                  <a:moveTo>
                    <a:pt x="0" y="0"/>
                  </a:moveTo>
                  <a:lnTo>
                    <a:pt x="889000" y="0"/>
                  </a:lnTo>
                  <a:lnTo>
                    <a:pt x="889000" y="1435100"/>
                  </a:lnTo>
                  <a:lnTo>
                    <a:pt x="0" y="1435100"/>
                  </a:lnTo>
                  <a:close/>
                </a:path>
              </a:pathLst>
            </a:custGeom>
            <a:blipFill>
              <a:blip r:embed="rId21"/>
              <a:stretch>
                <a:fillRect/>
              </a:stretch>
            </a:blipFill>
          </p:spPr>
        </p:sp>
      </p:grpSp>
      <p:grpSp>
        <p:nvGrpSpPr>
          <p:cNvPr id="47" name="Group 47"/>
          <p:cNvGrpSpPr/>
          <p:nvPr/>
        </p:nvGrpSpPr>
        <p:grpSpPr>
          <a:xfrm>
            <a:off x="428625" y="9429750"/>
            <a:ext cx="8934450" cy="647700"/>
            <a:chOff x="0" y="0"/>
            <a:chExt cx="11912600" cy="8636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1912600" cy="863600"/>
            </a:xfrm>
            <a:custGeom>
              <a:avLst/>
              <a:gdLst/>
              <a:ahLst/>
              <a:cxnLst/>
              <a:rect l="l" t="t" r="r" b="b"/>
              <a:pathLst>
                <a:path w="11912600" h="863600">
                  <a:moveTo>
                    <a:pt x="0" y="0"/>
                  </a:moveTo>
                  <a:lnTo>
                    <a:pt x="11912600" y="0"/>
                  </a:lnTo>
                  <a:lnTo>
                    <a:pt x="11912600" y="863600"/>
                  </a:lnTo>
                  <a:lnTo>
                    <a:pt x="0" y="863600"/>
                  </a:lnTo>
                  <a:close/>
                </a:path>
              </a:pathLst>
            </a:custGeom>
            <a:blipFill>
              <a:blip r:embed="rId22"/>
              <a:stretch>
                <a:fillRect/>
              </a:stretch>
            </a:blipFill>
          </p:spPr>
        </p:sp>
      </p:grpSp>
      <p:grpSp>
        <p:nvGrpSpPr>
          <p:cNvPr id="49" name="Group 49"/>
          <p:cNvGrpSpPr/>
          <p:nvPr/>
        </p:nvGrpSpPr>
        <p:grpSpPr>
          <a:xfrm>
            <a:off x="10877550" y="8143875"/>
            <a:ext cx="1104900" cy="1285875"/>
            <a:chOff x="0" y="0"/>
            <a:chExt cx="1473200" cy="17145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473200" cy="1714500"/>
            </a:xfrm>
            <a:custGeom>
              <a:avLst/>
              <a:gdLst/>
              <a:ahLst/>
              <a:cxnLst/>
              <a:rect l="l" t="t" r="r" b="b"/>
              <a:pathLst>
                <a:path w="1473200" h="1714500">
                  <a:moveTo>
                    <a:pt x="0" y="0"/>
                  </a:moveTo>
                  <a:lnTo>
                    <a:pt x="1473200" y="0"/>
                  </a:lnTo>
                  <a:lnTo>
                    <a:pt x="1473200" y="1714500"/>
                  </a:lnTo>
                  <a:lnTo>
                    <a:pt x="0" y="1714500"/>
                  </a:lnTo>
                  <a:close/>
                </a:path>
              </a:pathLst>
            </a:custGeom>
            <a:blipFill>
              <a:blip r:embed="rId23"/>
              <a:stretch>
                <a:fillRect/>
              </a:stretch>
            </a:blipFill>
          </p:spPr>
        </p:sp>
      </p:grpSp>
      <p:grpSp>
        <p:nvGrpSpPr>
          <p:cNvPr id="51" name="Group 51"/>
          <p:cNvGrpSpPr/>
          <p:nvPr/>
        </p:nvGrpSpPr>
        <p:grpSpPr>
          <a:xfrm>
            <a:off x="11315700" y="9210675"/>
            <a:ext cx="4800600" cy="438150"/>
            <a:chOff x="0" y="0"/>
            <a:chExt cx="6400800" cy="5842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6400800" cy="584200"/>
            </a:xfrm>
            <a:custGeom>
              <a:avLst/>
              <a:gdLst/>
              <a:ahLst/>
              <a:cxnLst/>
              <a:rect l="l" t="t" r="r" b="b"/>
              <a:pathLst>
                <a:path w="6400800" h="584200">
                  <a:moveTo>
                    <a:pt x="0" y="0"/>
                  </a:moveTo>
                  <a:lnTo>
                    <a:pt x="6400800" y="0"/>
                  </a:lnTo>
                  <a:lnTo>
                    <a:pt x="6400800" y="584200"/>
                  </a:lnTo>
                  <a:lnTo>
                    <a:pt x="0" y="584200"/>
                  </a:lnTo>
                  <a:close/>
                </a:path>
              </a:pathLst>
            </a:custGeom>
            <a:blipFill>
              <a:blip r:embed="rId24"/>
              <a:stretch>
                <a:fillRect/>
              </a:stretch>
            </a:blipFill>
          </p:spPr>
        </p:sp>
      </p:grpSp>
      <p:grpSp>
        <p:nvGrpSpPr>
          <p:cNvPr id="53" name="Group 53"/>
          <p:cNvGrpSpPr/>
          <p:nvPr/>
        </p:nvGrpSpPr>
        <p:grpSpPr>
          <a:xfrm>
            <a:off x="15449550" y="8143875"/>
            <a:ext cx="1104900" cy="1285875"/>
            <a:chOff x="0" y="0"/>
            <a:chExt cx="1473200" cy="17145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473200" cy="1714500"/>
            </a:xfrm>
            <a:custGeom>
              <a:avLst/>
              <a:gdLst/>
              <a:ahLst/>
              <a:cxnLst/>
              <a:rect l="l" t="t" r="r" b="b"/>
              <a:pathLst>
                <a:path w="1473200" h="1714500">
                  <a:moveTo>
                    <a:pt x="0" y="0"/>
                  </a:moveTo>
                  <a:lnTo>
                    <a:pt x="1473200" y="0"/>
                  </a:lnTo>
                  <a:lnTo>
                    <a:pt x="1473200" y="1714500"/>
                  </a:lnTo>
                  <a:lnTo>
                    <a:pt x="0" y="1714500"/>
                  </a:lnTo>
                  <a:close/>
                </a:path>
              </a:pathLst>
            </a:custGeom>
            <a:blipFill>
              <a:blip r:embed="rId25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7181850" y="0"/>
            <a:ext cx="11106150" cy="10287000"/>
            <a:chOff x="0" y="0"/>
            <a:chExt cx="14808200" cy="1371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808200" cy="13716000"/>
            </a:xfrm>
            <a:custGeom>
              <a:avLst/>
              <a:gdLst/>
              <a:ahLst/>
              <a:cxnLst/>
              <a:rect l="l" t="t" r="r" b="b"/>
              <a:pathLst>
                <a:path w="14808200" h="13716000">
                  <a:moveTo>
                    <a:pt x="0" y="0"/>
                  </a:moveTo>
                  <a:lnTo>
                    <a:pt x="14808200" y="0"/>
                  </a:lnTo>
                  <a:lnTo>
                    <a:pt x="14808200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0" y="0"/>
            <a:ext cx="11106150" cy="10287000"/>
            <a:chOff x="0" y="0"/>
            <a:chExt cx="14808200" cy="13716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808200" cy="13716000"/>
            </a:xfrm>
            <a:custGeom>
              <a:avLst/>
              <a:gdLst/>
              <a:ahLst/>
              <a:cxnLst/>
              <a:rect l="l" t="t" r="r" b="b"/>
              <a:pathLst>
                <a:path w="14808200" h="13716000">
                  <a:moveTo>
                    <a:pt x="0" y="0"/>
                  </a:moveTo>
                  <a:lnTo>
                    <a:pt x="14808200" y="0"/>
                  </a:lnTo>
                  <a:lnTo>
                    <a:pt x="14808200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0" y="8143875"/>
            <a:ext cx="7620000" cy="2143125"/>
            <a:chOff x="0" y="0"/>
            <a:chExt cx="10160000" cy="28575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160000" cy="2857500"/>
            </a:xfrm>
            <a:custGeom>
              <a:avLst/>
              <a:gdLst/>
              <a:ahLst/>
              <a:cxnLst/>
              <a:rect l="l" t="t" r="r" b="b"/>
              <a:pathLst>
                <a:path w="10160000" h="2857500">
                  <a:moveTo>
                    <a:pt x="0" y="0"/>
                  </a:moveTo>
                  <a:lnTo>
                    <a:pt x="10160000" y="0"/>
                  </a:lnTo>
                  <a:lnTo>
                    <a:pt x="10160000" y="2857500"/>
                  </a:lnTo>
                  <a:lnTo>
                    <a:pt x="0" y="285750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8267700" y="9210675"/>
            <a:ext cx="2400300" cy="866775"/>
            <a:chOff x="0" y="0"/>
            <a:chExt cx="3200400" cy="11557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200400" cy="1155700"/>
            </a:xfrm>
            <a:custGeom>
              <a:avLst/>
              <a:gdLst/>
              <a:ahLst/>
              <a:cxnLst/>
              <a:rect l="l" t="t" r="r" b="b"/>
              <a:pathLst>
                <a:path w="3200400" h="1155700">
                  <a:moveTo>
                    <a:pt x="0" y="0"/>
                  </a:moveTo>
                  <a:lnTo>
                    <a:pt x="3200400" y="0"/>
                  </a:lnTo>
                  <a:lnTo>
                    <a:pt x="3200400" y="1155700"/>
                  </a:lnTo>
                  <a:lnTo>
                    <a:pt x="0" y="115570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0448925" y="8353425"/>
            <a:ext cx="876300" cy="1295400"/>
            <a:chOff x="0" y="0"/>
            <a:chExt cx="1168400" cy="1727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68400" cy="1727200"/>
            </a:xfrm>
            <a:custGeom>
              <a:avLst/>
              <a:gdLst/>
              <a:ahLst/>
              <a:cxnLst/>
              <a:rect l="l" t="t" r="r" b="b"/>
              <a:pathLst>
                <a:path w="1168400" h="1727200">
                  <a:moveTo>
                    <a:pt x="0" y="0"/>
                  </a:moveTo>
                  <a:lnTo>
                    <a:pt x="1168400" y="0"/>
                  </a:lnTo>
                  <a:lnTo>
                    <a:pt x="1168400" y="1727200"/>
                  </a:lnTo>
                  <a:lnTo>
                    <a:pt x="0" y="172720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647700" y="638175"/>
            <a:ext cx="876300" cy="866775"/>
            <a:chOff x="0" y="0"/>
            <a:chExt cx="1168400" cy="11557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68400" cy="1155700"/>
            </a:xfrm>
            <a:custGeom>
              <a:avLst/>
              <a:gdLst/>
              <a:ahLst/>
              <a:cxnLst/>
              <a:rect l="l" t="t" r="r" b="b"/>
              <a:pathLst>
                <a:path w="1168400" h="1155700">
                  <a:moveTo>
                    <a:pt x="0" y="0"/>
                  </a:moveTo>
                  <a:lnTo>
                    <a:pt x="1168400" y="0"/>
                  </a:lnTo>
                  <a:lnTo>
                    <a:pt x="1168400" y="1155700"/>
                  </a:lnTo>
                  <a:lnTo>
                    <a:pt x="0" y="115570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671374" y="717293"/>
            <a:ext cx="6991546" cy="940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149"/>
              </a:lnSpc>
            </a:pPr>
            <a:r>
              <a:rPr lang="en-US" sz="6938" b="1" spc="-291">
                <a:solidFill>
                  <a:srgbClr val="1A3D36"/>
                </a:solidFill>
                <a:latin typeface="Heebo Heavy"/>
                <a:ea typeface="Heebo Heavy"/>
                <a:cs typeface="Heebo Heavy"/>
                <a:sym typeface="Heebo Heavy"/>
              </a:rPr>
              <a:t>Make food sharing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1965" y="1687263"/>
            <a:ext cx="8170664" cy="1813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06"/>
              </a:lnSpc>
            </a:pPr>
            <a:r>
              <a:rPr lang="en-US" sz="6800" b="1" spc="-285">
                <a:solidFill>
                  <a:srgbClr val="F28C32"/>
                </a:solidFill>
                <a:latin typeface="Heebo Heavy"/>
                <a:ea typeface="Heebo Heavy"/>
                <a:cs typeface="Heebo Heavy"/>
                <a:sym typeface="Heebo Heavy"/>
              </a:rPr>
              <a:t>easy, accessible, and impactful</a:t>
            </a:r>
            <a:r>
              <a:rPr lang="en-US" sz="6800" b="1" spc="-285">
                <a:solidFill>
                  <a:srgbClr val="C8A983"/>
                </a:solidFill>
                <a:latin typeface="Heebo Heavy"/>
                <a:ea typeface="Heebo Heavy"/>
                <a:cs typeface="Heebo Heavy"/>
                <a:sym typeface="Heebo Heavy"/>
              </a:rPr>
              <a:t>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428625" y="3638550"/>
            <a:ext cx="8715375" cy="3009900"/>
            <a:chOff x="0" y="0"/>
            <a:chExt cx="11620500" cy="4013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1620500" cy="4013200"/>
            </a:xfrm>
            <a:custGeom>
              <a:avLst/>
              <a:gdLst/>
              <a:ahLst/>
              <a:cxnLst/>
              <a:rect l="l" t="t" r="r" b="b"/>
              <a:pathLst>
                <a:path w="11620500" h="4013200">
                  <a:moveTo>
                    <a:pt x="0" y="0"/>
                  </a:moveTo>
                  <a:lnTo>
                    <a:pt x="11620500" y="0"/>
                  </a:lnTo>
                  <a:lnTo>
                    <a:pt x="11620500" y="4013200"/>
                  </a:lnTo>
                  <a:lnTo>
                    <a:pt x="0" y="401320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647700" y="4067175"/>
            <a:ext cx="1533525" cy="1504950"/>
            <a:chOff x="0" y="0"/>
            <a:chExt cx="2044700" cy="20066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44700" cy="2006600"/>
            </a:xfrm>
            <a:custGeom>
              <a:avLst/>
              <a:gdLst/>
              <a:ahLst/>
              <a:cxnLst/>
              <a:rect l="l" t="t" r="r" b="b"/>
              <a:pathLst>
                <a:path w="2044700" h="2006600">
                  <a:moveTo>
                    <a:pt x="0" y="0"/>
                  </a:moveTo>
                  <a:lnTo>
                    <a:pt x="2044700" y="0"/>
                  </a:lnTo>
                  <a:lnTo>
                    <a:pt x="2044700" y="2006600"/>
                  </a:lnTo>
                  <a:lnTo>
                    <a:pt x="0" y="200660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866775" y="4495800"/>
            <a:ext cx="1095375" cy="647700"/>
            <a:chOff x="0" y="0"/>
            <a:chExt cx="1460500" cy="8636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460500" cy="863600"/>
            </a:xfrm>
            <a:custGeom>
              <a:avLst/>
              <a:gdLst/>
              <a:ahLst/>
              <a:cxnLst/>
              <a:rect l="l" t="t" r="r" b="b"/>
              <a:pathLst>
                <a:path w="1460500" h="863600">
                  <a:moveTo>
                    <a:pt x="0" y="0"/>
                  </a:moveTo>
                  <a:lnTo>
                    <a:pt x="1460500" y="0"/>
                  </a:lnTo>
                  <a:lnTo>
                    <a:pt x="1460500" y="863600"/>
                  </a:lnTo>
                  <a:lnTo>
                    <a:pt x="0" y="86360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2171700" y="4067175"/>
            <a:ext cx="228600" cy="2152650"/>
            <a:chOff x="0" y="0"/>
            <a:chExt cx="304800" cy="28702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04800" cy="2870200"/>
            </a:xfrm>
            <a:custGeom>
              <a:avLst/>
              <a:gdLst/>
              <a:ahLst/>
              <a:cxnLst/>
              <a:rect l="l" t="t" r="r" b="b"/>
              <a:pathLst>
                <a:path w="304800" h="2870200">
                  <a:moveTo>
                    <a:pt x="0" y="0"/>
                  </a:moveTo>
                  <a:lnTo>
                    <a:pt x="304800" y="0"/>
                  </a:lnTo>
                  <a:lnTo>
                    <a:pt x="304800" y="2870200"/>
                  </a:lnTo>
                  <a:lnTo>
                    <a:pt x="0" y="287020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</p:grpSp>
      <p:sp>
        <p:nvSpPr>
          <p:cNvPr id="27" name="TextBox 27"/>
          <p:cNvSpPr txBox="1"/>
          <p:nvPr/>
        </p:nvSpPr>
        <p:spPr>
          <a:xfrm>
            <a:off x="2584888" y="4075689"/>
            <a:ext cx="1365071" cy="416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3"/>
              </a:lnSpc>
            </a:pPr>
            <a:r>
              <a:rPr lang="en-US" sz="2487" b="1" spc="-24">
                <a:solidFill>
                  <a:srgbClr val="F28C32"/>
                </a:solidFill>
                <a:latin typeface="Inter Bold"/>
                <a:ea typeface="Inter Bold"/>
                <a:cs typeface="Inter Bold"/>
                <a:sym typeface="Inter Bold"/>
              </a:rPr>
              <a:t>MISSION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537036" y="4612581"/>
            <a:ext cx="6150349" cy="669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sz="2047" b="1" spc="-19">
                <a:solidFill>
                  <a:srgbClr val="F2EDE4"/>
                </a:solidFill>
                <a:latin typeface="Inter Bold"/>
                <a:ea typeface="Inter Bold"/>
                <a:cs typeface="Inter Bold"/>
                <a:sym typeface="Inter Bold"/>
              </a:rPr>
              <a:t>Bridging the gap between surplus food providers and people or organizations in need.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565831" y="5486574"/>
            <a:ext cx="3270765" cy="669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sz="2047" spc="-19">
                <a:solidFill>
                  <a:srgbClr val="F2EDE4"/>
                </a:solidFill>
                <a:latin typeface="Inter"/>
                <a:ea typeface="Inter"/>
                <a:cs typeface="Inter"/>
                <a:sym typeface="Inter"/>
              </a:rPr>
              <a:t>Reducing food waste while</a:t>
            </a:r>
          </a:p>
          <a:p>
            <a:pPr algn="l">
              <a:lnSpc>
                <a:spcPts val="2661"/>
              </a:lnSpc>
            </a:pPr>
            <a:r>
              <a:rPr lang="en-US" sz="2047" spc="-19">
                <a:solidFill>
                  <a:srgbClr val="F2EDE4"/>
                </a:solidFill>
                <a:latin typeface="Inter"/>
                <a:ea typeface="Inter"/>
                <a:cs typeface="Inter"/>
                <a:sym typeface="Inter"/>
              </a:rPr>
              <a:t>supporting communities.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428625" y="6638925"/>
            <a:ext cx="8715375" cy="2152650"/>
            <a:chOff x="0" y="0"/>
            <a:chExt cx="11620500" cy="28702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620500" cy="2870200"/>
            </a:xfrm>
            <a:custGeom>
              <a:avLst/>
              <a:gdLst/>
              <a:ahLst/>
              <a:cxnLst/>
              <a:rect l="l" t="t" r="r" b="b"/>
              <a:pathLst>
                <a:path w="11620500" h="2870200">
                  <a:moveTo>
                    <a:pt x="0" y="0"/>
                  </a:moveTo>
                  <a:lnTo>
                    <a:pt x="11620500" y="0"/>
                  </a:lnTo>
                  <a:lnTo>
                    <a:pt x="11620500" y="2870200"/>
                  </a:lnTo>
                  <a:lnTo>
                    <a:pt x="0" y="2870200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</p:sp>
      </p:grpSp>
      <p:grpSp>
        <p:nvGrpSpPr>
          <p:cNvPr id="32" name="Group 32"/>
          <p:cNvGrpSpPr/>
          <p:nvPr/>
        </p:nvGrpSpPr>
        <p:grpSpPr>
          <a:xfrm>
            <a:off x="647700" y="7067550"/>
            <a:ext cx="1533525" cy="1504950"/>
            <a:chOff x="0" y="0"/>
            <a:chExt cx="2044700" cy="20066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044700" cy="2006600"/>
            </a:xfrm>
            <a:custGeom>
              <a:avLst/>
              <a:gdLst/>
              <a:ahLst/>
              <a:cxnLst/>
              <a:rect l="l" t="t" r="r" b="b"/>
              <a:pathLst>
                <a:path w="2044700" h="2006600">
                  <a:moveTo>
                    <a:pt x="0" y="0"/>
                  </a:moveTo>
                  <a:lnTo>
                    <a:pt x="2044700" y="0"/>
                  </a:lnTo>
                  <a:lnTo>
                    <a:pt x="2044700" y="2006600"/>
                  </a:lnTo>
                  <a:lnTo>
                    <a:pt x="0" y="200660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</p:sp>
      </p:grpSp>
      <p:grpSp>
        <p:nvGrpSpPr>
          <p:cNvPr id="34" name="Group 34"/>
          <p:cNvGrpSpPr/>
          <p:nvPr/>
        </p:nvGrpSpPr>
        <p:grpSpPr>
          <a:xfrm>
            <a:off x="1085850" y="7286625"/>
            <a:ext cx="876300" cy="857250"/>
            <a:chOff x="0" y="0"/>
            <a:chExt cx="1168400" cy="11430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168400" cy="1143000"/>
            </a:xfrm>
            <a:custGeom>
              <a:avLst/>
              <a:gdLst/>
              <a:ahLst/>
              <a:cxnLst/>
              <a:rect l="l" t="t" r="r" b="b"/>
              <a:pathLst>
                <a:path w="1168400" h="1143000">
                  <a:moveTo>
                    <a:pt x="0" y="0"/>
                  </a:moveTo>
                  <a:lnTo>
                    <a:pt x="1168400" y="0"/>
                  </a:lnTo>
                  <a:lnTo>
                    <a:pt x="1168400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16"/>
              <a:stretch>
                <a:fillRect/>
              </a:stretch>
            </a:blipFill>
          </p:spPr>
        </p:sp>
      </p:grpSp>
      <p:grpSp>
        <p:nvGrpSpPr>
          <p:cNvPr id="36" name="Group 36"/>
          <p:cNvGrpSpPr/>
          <p:nvPr/>
        </p:nvGrpSpPr>
        <p:grpSpPr>
          <a:xfrm>
            <a:off x="2171700" y="7067550"/>
            <a:ext cx="228600" cy="1504950"/>
            <a:chOff x="0" y="0"/>
            <a:chExt cx="304800" cy="20066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04800" cy="2006600"/>
            </a:xfrm>
            <a:custGeom>
              <a:avLst/>
              <a:gdLst/>
              <a:ahLst/>
              <a:cxnLst/>
              <a:rect l="l" t="t" r="r" b="b"/>
              <a:pathLst>
                <a:path w="304800" h="2006600">
                  <a:moveTo>
                    <a:pt x="0" y="0"/>
                  </a:moveTo>
                  <a:lnTo>
                    <a:pt x="304800" y="0"/>
                  </a:lnTo>
                  <a:lnTo>
                    <a:pt x="304800" y="2006600"/>
                  </a:lnTo>
                  <a:lnTo>
                    <a:pt x="0" y="2006600"/>
                  </a:lnTo>
                  <a:close/>
                </a:path>
              </a:pathLst>
            </a:custGeom>
            <a:blipFill>
              <a:blip r:embed="rId17"/>
              <a:stretch>
                <a:fillRect/>
              </a:stretch>
            </a:blipFill>
          </p:spPr>
        </p:sp>
      </p:grpSp>
      <p:sp>
        <p:nvSpPr>
          <p:cNvPr id="38" name="TextBox 38"/>
          <p:cNvSpPr txBox="1"/>
          <p:nvPr/>
        </p:nvSpPr>
        <p:spPr>
          <a:xfrm>
            <a:off x="2587566" y="7029183"/>
            <a:ext cx="1097314" cy="416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3"/>
              </a:lnSpc>
            </a:pPr>
            <a:r>
              <a:rPr lang="en-US" sz="2487" b="1" spc="-24">
                <a:solidFill>
                  <a:srgbClr val="C86F23"/>
                </a:solidFill>
                <a:latin typeface="Inter Bold"/>
                <a:ea typeface="Inter Bold"/>
                <a:cs typeface="Inter Bold"/>
                <a:sym typeface="Inter Bold"/>
              </a:rPr>
              <a:t>VISION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548807" y="7581144"/>
            <a:ext cx="4973163" cy="669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sz="2047" b="1" spc="-19">
                <a:solidFill>
                  <a:srgbClr val="1A3D3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 world where edible food is not wasted</a:t>
            </a:r>
          </a:p>
          <a:p>
            <a:pPr algn="l">
              <a:lnSpc>
                <a:spcPts val="2661"/>
              </a:lnSpc>
            </a:pPr>
            <a:r>
              <a:rPr lang="en-US" sz="2047" b="1" spc="-19">
                <a:solidFill>
                  <a:srgbClr val="1A3D3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when someone nearby needs it.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209550" y="9001125"/>
            <a:ext cx="1314450" cy="1076325"/>
            <a:chOff x="0" y="0"/>
            <a:chExt cx="1752600" cy="14351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752600" cy="1435100"/>
            </a:xfrm>
            <a:custGeom>
              <a:avLst/>
              <a:gdLst/>
              <a:ahLst/>
              <a:cxnLst/>
              <a:rect l="l" t="t" r="r" b="b"/>
              <a:pathLst>
                <a:path w="1752600" h="1435100">
                  <a:moveTo>
                    <a:pt x="0" y="0"/>
                  </a:moveTo>
                  <a:lnTo>
                    <a:pt x="1752600" y="0"/>
                  </a:lnTo>
                  <a:lnTo>
                    <a:pt x="1752600" y="1435100"/>
                  </a:lnTo>
                  <a:lnTo>
                    <a:pt x="0" y="1435100"/>
                  </a:lnTo>
                  <a:close/>
                </a:path>
              </a:pathLst>
            </a:custGeom>
            <a:blipFill>
              <a:blip r:embed="rId18"/>
              <a:stretch>
                <a:fillRect/>
              </a:stretch>
            </a:blipFill>
          </p:spPr>
        </p:sp>
      </p:grpSp>
      <p:grpSp>
        <p:nvGrpSpPr>
          <p:cNvPr id="42" name="Group 42"/>
          <p:cNvGrpSpPr/>
          <p:nvPr/>
        </p:nvGrpSpPr>
        <p:grpSpPr>
          <a:xfrm>
            <a:off x="4352925" y="3000375"/>
            <a:ext cx="438150" cy="428625"/>
            <a:chOff x="0" y="0"/>
            <a:chExt cx="584200" cy="5715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584200" cy="571500"/>
            </a:xfrm>
            <a:custGeom>
              <a:avLst/>
              <a:gdLst/>
              <a:ahLst/>
              <a:cxnLst/>
              <a:rect l="l" t="t" r="r" b="b"/>
              <a:pathLst>
                <a:path w="584200" h="571500">
                  <a:moveTo>
                    <a:pt x="0" y="0"/>
                  </a:moveTo>
                  <a:lnTo>
                    <a:pt x="584200" y="0"/>
                  </a:lnTo>
                  <a:lnTo>
                    <a:pt x="5842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19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0" y="7924800"/>
            <a:ext cx="7191375" cy="1724025"/>
            <a:chOff x="0" y="0"/>
            <a:chExt cx="9588500" cy="22987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588500" cy="2298700"/>
            </a:xfrm>
            <a:custGeom>
              <a:avLst/>
              <a:gdLst/>
              <a:ahLst/>
              <a:cxnLst/>
              <a:rect l="l" t="t" r="r" b="b"/>
              <a:pathLst>
                <a:path w="9588500" h="2298700">
                  <a:moveTo>
                    <a:pt x="0" y="0"/>
                  </a:moveTo>
                  <a:lnTo>
                    <a:pt x="9588500" y="0"/>
                  </a:lnTo>
                  <a:lnTo>
                    <a:pt x="9588500" y="2298700"/>
                  </a:lnTo>
                  <a:lnTo>
                    <a:pt x="0" y="229870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5876925" y="7496175"/>
            <a:ext cx="657225" cy="647700"/>
            <a:chOff x="0" y="0"/>
            <a:chExt cx="876300" cy="863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76300" cy="863600"/>
            </a:xfrm>
            <a:custGeom>
              <a:avLst/>
              <a:gdLst/>
              <a:ahLst/>
              <a:cxnLst/>
              <a:rect l="l" t="t" r="r" b="b"/>
              <a:pathLst>
                <a:path w="876300" h="863600">
                  <a:moveTo>
                    <a:pt x="0" y="0"/>
                  </a:moveTo>
                  <a:lnTo>
                    <a:pt x="876300" y="0"/>
                  </a:lnTo>
                  <a:lnTo>
                    <a:pt x="876300" y="863600"/>
                  </a:lnTo>
                  <a:lnTo>
                    <a:pt x="0" y="8636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647700" y="8572500"/>
            <a:ext cx="666750" cy="647700"/>
            <a:chOff x="0" y="0"/>
            <a:chExt cx="889000" cy="863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89000" cy="863600"/>
            </a:xfrm>
            <a:custGeom>
              <a:avLst/>
              <a:gdLst/>
              <a:ahLst/>
              <a:cxnLst/>
              <a:rect l="l" t="t" r="r" b="b"/>
              <a:pathLst>
                <a:path w="889000" h="863600">
                  <a:moveTo>
                    <a:pt x="0" y="0"/>
                  </a:moveTo>
                  <a:lnTo>
                    <a:pt x="889000" y="0"/>
                  </a:lnTo>
                  <a:lnTo>
                    <a:pt x="889000" y="863600"/>
                  </a:lnTo>
                  <a:lnTo>
                    <a:pt x="0" y="86360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745575" y="1158673"/>
            <a:ext cx="5809671" cy="1963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43"/>
              </a:lnSpc>
            </a:pPr>
            <a:r>
              <a:rPr lang="en-US" sz="7543" b="1" spc="-224">
                <a:solidFill>
                  <a:srgbClr val="EFE7D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 digital marketplace for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1828" y="3157342"/>
            <a:ext cx="6184373" cy="1091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01"/>
              </a:lnSpc>
            </a:pPr>
            <a:r>
              <a:rPr lang="en-US" sz="8101" b="1" spc="-241">
                <a:solidFill>
                  <a:srgbClr val="F28A3D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food donations.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47700" y="4495800"/>
            <a:ext cx="876300" cy="866775"/>
            <a:chOff x="0" y="0"/>
            <a:chExt cx="1168400" cy="11557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68400" cy="1155700"/>
            </a:xfrm>
            <a:custGeom>
              <a:avLst/>
              <a:gdLst/>
              <a:ahLst/>
              <a:cxnLst/>
              <a:rect l="l" t="t" r="r" b="b"/>
              <a:pathLst>
                <a:path w="1168400" h="1155700">
                  <a:moveTo>
                    <a:pt x="0" y="0"/>
                  </a:moveTo>
                  <a:lnTo>
                    <a:pt x="1168400" y="0"/>
                  </a:lnTo>
                  <a:lnTo>
                    <a:pt x="1168400" y="1155700"/>
                  </a:lnTo>
                  <a:lnTo>
                    <a:pt x="0" y="115570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866775" y="4714875"/>
            <a:ext cx="447675" cy="428625"/>
            <a:chOff x="0" y="0"/>
            <a:chExt cx="596900" cy="5715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96900" cy="571500"/>
            </a:xfrm>
            <a:custGeom>
              <a:avLst/>
              <a:gdLst/>
              <a:ahLst/>
              <a:cxnLst/>
              <a:rect l="l" t="t" r="r" b="b"/>
              <a:pathLst>
                <a:path w="596900" h="571500">
                  <a:moveTo>
                    <a:pt x="0" y="0"/>
                  </a:moveTo>
                  <a:lnTo>
                    <a:pt x="596900" y="0"/>
                  </a:lnTo>
                  <a:lnTo>
                    <a:pt x="5969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641512" y="4790833"/>
            <a:ext cx="4619885" cy="326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b="1" spc="-47">
                <a:solidFill>
                  <a:srgbClr val="EFE7D8"/>
                </a:solidFill>
                <a:latin typeface="Roboto Bold"/>
                <a:ea typeface="Roboto Bold"/>
                <a:cs typeface="Roboto Bold"/>
                <a:sym typeface="Roboto Bold"/>
              </a:rPr>
              <a:t>Donors post available surplus food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47700" y="5353050"/>
            <a:ext cx="876300" cy="866775"/>
            <a:chOff x="0" y="0"/>
            <a:chExt cx="1168400" cy="11557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68400" cy="1155700"/>
            </a:xfrm>
            <a:custGeom>
              <a:avLst/>
              <a:gdLst/>
              <a:ahLst/>
              <a:cxnLst/>
              <a:rect l="l" t="t" r="r" b="b"/>
              <a:pathLst>
                <a:path w="1168400" h="1155700">
                  <a:moveTo>
                    <a:pt x="0" y="0"/>
                  </a:moveTo>
                  <a:lnTo>
                    <a:pt x="1168400" y="0"/>
                  </a:lnTo>
                  <a:lnTo>
                    <a:pt x="1168400" y="1155700"/>
                  </a:lnTo>
                  <a:lnTo>
                    <a:pt x="0" y="115570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866775" y="5572125"/>
            <a:ext cx="657225" cy="428625"/>
            <a:chOff x="0" y="0"/>
            <a:chExt cx="876300" cy="5715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76300" cy="571500"/>
            </a:xfrm>
            <a:custGeom>
              <a:avLst/>
              <a:gdLst/>
              <a:ahLst/>
              <a:cxnLst/>
              <a:rect l="l" t="t" r="r" b="b"/>
              <a:pathLst>
                <a:path w="876300" h="571500">
                  <a:moveTo>
                    <a:pt x="0" y="0"/>
                  </a:moveTo>
                  <a:lnTo>
                    <a:pt x="876300" y="0"/>
                  </a:lnTo>
                  <a:lnTo>
                    <a:pt x="8763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1637717" y="5619620"/>
            <a:ext cx="4999347" cy="326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b="1" spc="-47">
                <a:solidFill>
                  <a:srgbClr val="EFE7D8"/>
                </a:solidFill>
                <a:latin typeface="Roboto Bold"/>
                <a:ea typeface="Roboto Bold"/>
                <a:cs typeface="Roboto Bold"/>
                <a:sym typeface="Roboto Bold"/>
              </a:rPr>
              <a:t>Recipients discover nearby donations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647700" y="6210300"/>
            <a:ext cx="876300" cy="866775"/>
            <a:chOff x="0" y="0"/>
            <a:chExt cx="1168400" cy="11557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168400" cy="1155700"/>
            </a:xfrm>
            <a:custGeom>
              <a:avLst/>
              <a:gdLst/>
              <a:ahLst/>
              <a:cxnLst/>
              <a:rect l="l" t="t" r="r" b="b"/>
              <a:pathLst>
                <a:path w="1168400" h="1155700">
                  <a:moveTo>
                    <a:pt x="0" y="0"/>
                  </a:moveTo>
                  <a:lnTo>
                    <a:pt x="1168400" y="0"/>
                  </a:lnTo>
                  <a:lnTo>
                    <a:pt x="1168400" y="1155700"/>
                  </a:lnTo>
                  <a:lnTo>
                    <a:pt x="0" y="115570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866775" y="6429375"/>
            <a:ext cx="657225" cy="428625"/>
            <a:chOff x="0" y="0"/>
            <a:chExt cx="876300" cy="5715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76300" cy="571500"/>
            </a:xfrm>
            <a:custGeom>
              <a:avLst/>
              <a:gdLst/>
              <a:ahLst/>
              <a:cxnLst/>
              <a:rect l="l" t="t" r="r" b="b"/>
              <a:pathLst>
                <a:path w="876300" h="571500">
                  <a:moveTo>
                    <a:pt x="0" y="0"/>
                  </a:moveTo>
                  <a:lnTo>
                    <a:pt x="876300" y="0"/>
                  </a:lnTo>
                  <a:lnTo>
                    <a:pt x="8763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sp>
        <p:nvSpPr>
          <p:cNvPr id="27" name="TextBox 27"/>
          <p:cNvSpPr txBox="1"/>
          <p:nvPr/>
        </p:nvSpPr>
        <p:spPr>
          <a:xfrm>
            <a:off x="1630305" y="6433337"/>
            <a:ext cx="5740573" cy="326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b="1" spc="-47">
                <a:solidFill>
                  <a:srgbClr val="EFE7D8"/>
                </a:solidFill>
                <a:latin typeface="Roboto Bold"/>
                <a:ea typeface="Roboto Bold"/>
                <a:cs typeface="Roboto Bold"/>
                <a:sym typeface="Roboto Bold"/>
              </a:rPr>
              <a:t>Food can be claimed quickly and efficiently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647700" y="7496175"/>
            <a:ext cx="876300" cy="219075"/>
            <a:chOff x="0" y="0"/>
            <a:chExt cx="1168400" cy="2921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68400" cy="292100"/>
            </a:xfrm>
            <a:custGeom>
              <a:avLst/>
              <a:gdLst/>
              <a:ahLst/>
              <a:cxnLst/>
              <a:rect l="l" t="t" r="r" b="b"/>
              <a:pathLst>
                <a:path w="1168400" h="292100">
                  <a:moveTo>
                    <a:pt x="0" y="0"/>
                  </a:moveTo>
                  <a:lnTo>
                    <a:pt x="1168400" y="0"/>
                  </a:lnTo>
                  <a:lnTo>
                    <a:pt x="1168400" y="292100"/>
                  </a:lnTo>
                  <a:lnTo>
                    <a:pt x="0" y="29210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</p:grpSp>
      <p:sp>
        <p:nvSpPr>
          <p:cNvPr id="30" name="TextBox 30"/>
          <p:cNvSpPr txBox="1"/>
          <p:nvPr/>
        </p:nvSpPr>
        <p:spPr>
          <a:xfrm>
            <a:off x="1580555" y="7260096"/>
            <a:ext cx="3616523" cy="754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3"/>
              </a:lnSpc>
            </a:pPr>
            <a:r>
              <a:rPr lang="en-US" sz="2188" spc="-65">
                <a:solidFill>
                  <a:srgbClr val="EFE7D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Communities collaborate to reduce hunger and waste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219700" y="428625"/>
            <a:ext cx="12639675" cy="9648825"/>
            <a:chOff x="0" y="0"/>
            <a:chExt cx="16852900" cy="128651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6852900" cy="12865100"/>
            </a:xfrm>
            <a:custGeom>
              <a:avLst/>
              <a:gdLst/>
              <a:ahLst/>
              <a:cxnLst/>
              <a:rect l="l" t="t" r="r" b="b"/>
              <a:pathLst>
                <a:path w="16852900" h="12865100">
                  <a:moveTo>
                    <a:pt x="0" y="0"/>
                  </a:moveTo>
                  <a:lnTo>
                    <a:pt x="16852900" y="0"/>
                  </a:lnTo>
                  <a:lnTo>
                    <a:pt x="16852900" y="12865100"/>
                  </a:lnTo>
                  <a:lnTo>
                    <a:pt x="0" y="12865100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</p:sp>
      </p:grpSp>
      <p:sp>
        <p:nvSpPr>
          <p:cNvPr id="33" name="TextBox 33"/>
          <p:cNvSpPr txBox="1"/>
          <p:nvPr/>
        </p:nvSpPr>
        <p:spPr>
          <a:xfrm rot="-63281">
            <a:off x="9227199" y="1425101"/>
            <a:ext cx="1536636" cy="374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759" spc="-82">
                <a:solidFill>
                  <a:srgbClr val="EFE7D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Food</a:t>
            </a:r>
            <a:r>
              <a:rPr lang="en-US" sz="2759" spc="-82">
                <a:solidFill>
                  <a:srgbClr val="F28A3D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Bridge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3496925" y="1495425"/>
            <a:ext cx="876300" cy="438150"/>
            <a:chOff x="0" y="0"/>
            <a:chExt cx="1168400" cy="5842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168400" cy="584200"/>
            </a:xfrm>
            <a:custGeom>
              <a:avLst/>
              <a:gdLst/>
              <a:ahLst/>
              <a:cxnLst/>
              <a:rect l="l" t="t" r="r" b="b"/>
              <a:pathLst>
                <a:path w="1168400" h="584200">
                  <a:moveTo>
                    <a:pt x="0" y="0"/>
                  </a:moveTo>
                  <a:lnTo>
                    <a:pt x="1168400" y="0"/>
                  </a:lnTo>
                  <a:lnTo>
                    <a:pt x="1168400" y="584200"/>
                  </a:lnTo>
                  <a:lnTo>
                    <a:pt x="0" y="58420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</p:sp>
      </p:grpSp>
      <p:sp>
        <p:nvSpPr>
          <p:cNvPr id="36" name="TextBox 36"/>
          <p:cNvSpPr txBox="1"/>
          <p:nvPr/>
        </p:nvSpPr>
        <p:spPr>
          <a:xfrm>
            <a:off x="9118180" y="2429340"/>
            <a:ext cx="4367910" cy="832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3168" b="1" spc="-94">
                <a:solidFill>
                  <a:srgbClr val="EFE7D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Find food.</a:t>
            </a:r>
          </a:p>
          <a:p>
            <a:pPr algn="l">
              <a:lnSpc>
                <a:spcPts val="3168"/>
              </a:lnSpc>
            </a:pPr>
            <a:r>
              <a:rPr lang="en-US" sz="3168" b="1" spc="-94">
                <a:solidFill>
                  <a:srgbClr val="EFE7D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Reduce waste.</a:t>
            </a:r>
            <a:r>
              <a:rPr lang="en-US" sz="3168" b="1" spc="-94">
                <a:solidFill>
                  <a:srgbClr val="F28A3D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Feed people.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8924925" y="3429000"/>
            <a:ext cx="5667375" cy="647700"/>
            <a:chOff x="0" y="0"/>
            <a:chExt cx="7556500" cy="8636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7556500" cy="863600"/>
            </a:xfrm>
            <a:custGeom>
              <a:avLst/>
              <a:gdLst/>
              <a:ahLst/>
              <a:cxnLst/>
              <a:rect l="l" t="t" r="r" b="b"/>
              <a:pathLst>
                <a:path w="7556500" h="863600">
                  <a:moveTo>
                    <a:pt x="0" y="0"/>
                  </a:moveTo>
                  <a:lnTo>
                    <a:pt x="7556500" y="0"/>
                  </a:lnTo>
                  <a:lnTo>
                    <a:pt x="7556500" y="863600"/>
                  </a:lnTo>
                  <a:lnTo>
                    <a:pt x="0" y="863600"/>
                  </a:lnTo>
                  <a:close/>
                </a:path>
              </a:pathLst>
            </a:custGeom>
            <a:blipFill>
              <a:blip r:embed="rId16"/>
              <a:stretch>
                <a:fillRect/>
              </a:stretch>
            </a:blipFill>
          </p:spPr>
        </p:sp>
      </p:grpSp>
      <p:grpSp>
        <p:nvGrpSpPr>
          <p:cNvPr id="39" name="Group 39"/>
          <p:cNvGrpSpPr/>
          <p:nvPr/>
        </p:nvGrpSpPr>
        <p:grpSpPr>
          <a:xfrm>
            <a:off x="9144000" y="3429000"/>
            <a:ext cx="438150" cy="428625"/>
            <a:chOff x="0" y="0"/>
            <a:chExt cx="584200" cy="5715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84200" cy="571500"/>
            </a:xfrm>
            <a:custGeom>
              <a:avLst/>
              <a:gdLst/>
              <a:ahLst/>
              <a:cxnLst/>
              <a:rect l="l" t="t" r="r" b="b"/>
              <a:pathLst>
                <a:path w="584200" h="571500">
                  <a:moveTo>
                    <a:pt x="0" y="0"/>
                  </a:moveTo>
                  <a:lnTo>
                    <a:pt x="584200" y="0"/>
                  </a:lnTo>
                  <a:lnTo>
                    <a:pt x="5842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17"/>
              <a:stretch>
                <a:fillRect/>
              </a:stretch>
            </a:blipFill>
          </p:spPr>
        </p:sp>
      </p:grpSp>
      <p:sp>
        <p:nvSpPr>
          <p:cNvPr id="41" name="TextBox 41"/>
          <p:cNvSpPr txBox="1"/>
          <p:nvPr/>
        </p:nvSpPr>
        <p:spPr>
          <a:xfrm>
            <a:off x="9571038" y="3635842"/>
            <a:ext cx="1944645" cy="210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6"/>
              </a:lnSpc>
            </a:pPr>
            <a:r>
              <a:rPr lang="en-US" sz="1546" spc="-46">
                <a:solidFill>
                  <a:srgbClr val="50605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Search by food or location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13277850" y="3429000"/>
            <a:ext cx="1095375" cy="647700"/>
            <a:chOff x="0" y="0"/>
            <a:chExt cx="1460500" cy="8636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460500" cy="863600"/>
            </a:xfrm>
            <a:custGeom>
              <a:avLst/>
              <a:gdLst/>
              <a:ahLst/>
              <a:cxnLst/>
              <a:rect l="l" t="t" r="r" b="b"/>
              <a:pathLst>
                <a:path w="1460500" h="863600">
                  <a:moveTo>
                    <a:pt x="0" y="0"/>
                  </a:moveTo>
                  <a:lnTo>
                    <a:pt x="1460500" y="0"/>
                  </a:lnTo>
                  <a:lnTo>
                    <a:pt x="1460500" y="863600"/>
                  </a:lnTo>
                  <a:lnTo>
                    <a:pt x="0" y="863600"/>
                  </a:lnTo>
                  <a:close/>
                </a:path>
              </a:pathLst>
            </a:custGeom>
            <a:blipFill>
              <a:blip r:embed="rId18"/>
              <a:stretch>
                <a:fillRect/>
              </a:stretch>
            </a:blipFill>
          </p:spPr>
        </p:sp>
      </p:grpSp>
      <p:grpSp>
        <p:nvGrpSpPr>
          <p:cNvPr id="44" name="Group 44"/>
          <p:cNvGrpSpPr/>
          <p:nvPr/>
        </p:nvGrpSpPr>
        <p:grpSpPr>
          <a:xfrm>
            <a:off x="13277850" y="3429000"/>
            <a:ext cx="438150" cy="647700"/>
            <a:chOff x="0" y="0"/>
            <a:chExt cx="584200" cy="8636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84200" cy="863600"/>
            </a:xfrm>
            <a:custGeom>
              <a:avLst/>
              <a:gdLst/>
              <a:ahLst/>
              <a:cxnLst/>
              <a:rect l="l" t="t" r="r" b="b"/>
              <a:pathLst>
                <a:path w="584200" h="863600">
                  <a:moveTo>
                    <a:pt x="0" y="0"/>
                  </a:moveTo>
                  <a:lnTo>
                    <a:pt x="584200" y="0"/>
                  </a:lnTo>
                  <a:lnTo>
                    <a:pt x="584200" y="863600"/>
                  </a:lnTo>
                  <a:lnTo>
                    <a:pt x="0" y="863600"/>
                  </a:lnTo>
                  <a:close/>
                </a:path>
              </a:pathLst>
            </a:custGeom>
            <a:blipFill>
              <a:blip r:embed="rId19"/>
              <a:stretch>
                <a:fillRect/>
              </a:stretch>
            </a:blipFill>
          </p:spPr>
        </p:sp>
      </p:grpSp>
      <p:grpSp>
        <p:nvGrpSpPr>
          <p:cNvPr id="46" name="Group 46"/>
          <p:cNvGrpSpPr/>
          <p:nvPr/>
        </p:nvGrpSpPr>
        <p:grpSpPr>
          <a:xfrm>
            <a:off x="14582775" y="1924050"/>
            <a:ext cx="2838450" cy="2790825"/>
            <a:chOff x="0" y="0"/>
            <a:chExt cx="3784600" cy="37211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3784600" cy="3721100"/>
            </a:xfrm>
            <a:custGeom>
              <a:avLst/>
              <a:gdLst/>
              <a:ahLst/>
              <a:cxnLst/>
              <a:rect l="l" t="t" r="r" b="b"/>
              <a:pathLst>
                <a:path w="3784600" h="3721100">
                  <a:moveTo>
                    <a:pt x="0" y="0"/>
                  </a:moveTo>
                  <a:lnTo>
                    <a:pt x="3784600" y="0"/>
                  </a:lnTo>
                  <a:lnTo>
                    <a:pt x="3784600" y="3721100"/>
                  </a:lnTo>
                  <a:lnTo>
                    <a:pt x="0" y="3721100"/>
                  </a:lnTo>
                  <a:close/>
                </a:path>
              </a:pathLst>
            </a:custGeom>
            <a:blipFill>
              <a:blip r:embed="rId20"/>
              <a:stretch>
                <a:fillRect/>
              </a:stretch>
            </a:blipFill>
          </p:spPr>
        </p:sp>
      </p:grpSp>
      <p:grpSp>
        <p:nvGrpSpPr>
          <p:cNvPr id="48" name="Group 48"/>
          <p:cNvGrpSpPr/>
          <p:nvPr/>
        </p:nvGrpSpPr>
        <p:grpSpPr>
          <a:xfrm>
            <a:off x="15449550" y="2571750"/>
            <a:ext cx="447675" cy="647700"/>
            <a:chOff x="0" y="0"/>
            <a:chExt cx="596900" cy="8636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596900" cy="863600"/>
            </a:xfrm>
            <a:custGeom>
              <a:avLst/>
              <a:gdLst/>
              <a:ahLst/>
              <a:cxnLst/>
              <a:rect l="l" t="t" r="r" b="b"/>
              <a:pathLst>
                <a:path w="596900" h="863600">
                  <a:moveTo>
                    <a:pt x="0" y="0"/>
                  </a:moveTo>
                  <a:lnTo>
                    <a:pt x="596900" y="0"/>
                  </a:lnTo>
                  <a:lnTo>
                    <a:pt x="596900" y="863600"/>
                  </a:lnTo>
                  <a:lnTo>
                    <a:pt x="0" y="863600"/>
                  </a:lnTo>
                  <a:close/>
                </a:path>
              </a:pathLst>
            </a:custGeom>
            <a:blipFill>
              <a:blip r:embed="rId21"/>
              <a:stretch>
                <a:fillRect/>
              </a:stretch>
            </a:blipFill>
          </p:spPr>
        </p:sp>
      </p:grpSp>
      <p:grpSp>
        <p:nvGrpSpPr>
          <p:cNvPr id="50" name="Group 50"/>
          <p:cNvGrpSpPr/>
          <p:nvPr/>
        </p:nvGrpSpPr>
        <p:grpSpPr>
          <a:xfrm>
            <a:off x="15240000" y="3429000"/>
            <a:ext cx="438150" cy="647700"/>
            <a:chOff x="0" y="0"/>
            <a:chExt cx="584200" cy="8636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584200" cy="863600"/>
            </a:xfrm>
            <a:custGeom>
              <a:avLst/>
              <a:gdLst/>
              <a:ahLst/>
              <a:cxnLst/>
              <a:rect l="l" t="t" r="r" b="b"/>
              <a:pathLst>
                <a:path w="584200" h="863600">
                  <a:moveTo>
                    <a:pt x="0" y="0"/>
                  </a:moveTo>
                  <a:lnTo>
                    <a:pt x="584200" y="0"/>
                  </a:lnTo>
                  <a:lnTo>
                    <a:pt x="584200" y="863600"/>
                  </a:lnTo>
                  <a:lnTo>
                    <a:pt x="0" y="863600"/>
                  </a:lnTo>
                  <a:close/>
                </a:path>
              </a:pathLst>
            </a:custGeom>
            <a:blipFill>
              <a:blip r:embed="rId22"/>
              <a:stretch>
                <a:fillRect/>
              </a:stretch>
            </a:blipFill>
          </p:spPr>
        </p:sp>
      </p:grpSp>
      <p:grpSp>
        <p:nvGrpSpPr>
          <p:cNvPr id="52" name="Group 52"/>
          <p:cNvGrpSpPr/>
          <p:nvPr/>
        </p:nvGrpSpPr>
        <p:grpSpPr>
          <a:xfrm>
            <a:off x="16544925" y="3857625"/>
            <a:ext cx="438150" cy="647700"/>
            <a:chOff x="0" y="0"/>
            <a:chExt cx="584200" cy="8636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584200" cy="863600"/>
            </a:xfrm>
            <a:custGeom>
              <a:avLst/>
              <a:gdLst/>
              <a:ahLst/>
              <a:cxnLst/>
              <a:rect l="l" t="t" r="r" b="b"/>
              <a:pathLst>
                <a:path w="584200" h="863600">
                  <a:moveTo>
                    <a:pt x="0" y="0"/>
                  </a:moveTo>
                  <a:lnTo>
                    <a:pt x="584200" y="0"/>
                  </a:lnTo>
                  <a:lnTo>
                    <a:pt x="584200" y="863600"/>
                  </a:lnTo>
                  <a:lnTo>
                    <a:pt x="0" y="863600"/>
                  </a:lnTo>
                  <a:close/>
                </a:path>
              </a:pathLst>
            </a:custGeom>
            <a:blipFill>
              <a:blip r:embed="rId23"/>
              <a:stretch>
                <a:fillRect/>
              </a:stretch>
            </a:blipFill>
          </p:spPr>
        </p:sp>
      </p:grpSp>
      <p:sp>
        <p:nvSpPr>
          <p:cNvPr id="54" name="TextBox 54"/>
          <p:cNvSpPr txBox="1"/>
          <p:nvPr/>
        </p:nvSpPr>
        <p:spPr>
          <a:xfrm rot="63281">
            <a:off x="9027999" y="4434092"/>
            <a:ext cx="2652672" cy="267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b="1" spc="-57">
                <a:solidFill>
                  <a:srgbClr val="EFE7D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Available donations near you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8705850" y="4714875"/>
            <a:ext cx="2181225" cy="2790825"/>
            <a:chOff x="0" y="0"/>
            <a:chExt cx="2908300" cy="37211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2908300" cy="3721100"/>
            </a:xfrm>
            <a:custGeom>
              <a:avLst/>
              <a:gdLst/>
              <a:ahLst/>
              <a:cxnLst/>
              <a:rect l="l" t="t" r="r" b="b"/>
              <a:pathLst>
                <a:path w="2908300" h="3721100">
                  <a:moveTo>
                    <a:pt x="0" y="0"/>
                  </a:moveTo>
                  <a:lnTo>
                    <a:pt x="2908300" y="0"/>
                  </a:lnTo>
                  <a:lnTo>
                    <a:pt x="2908300" y="3721100"/>
                  </a:lnTo>
                  <a:lnTo>
                    <a:pt x="0" y="3721100"/>
                  </a:lnTo>
                  <a:close/>
                </a:path>
              </a:pathLst>
            </a:custGeom>
            <a:blipFill>
              <a:blip r:embed="rId24"/>
              <a:stretch>
                <a:fillRect/>
              </a:stretch>
            </a:blipFill>
          </p:spPr>
        </p:sp>
      </p:grpSp>
      <p:grpSp>
        <p:nvGrpSpPr>
          <p:cNvPr id="57" name="Group 57"/>
          <p:cNvGrpSpPr/>
          <p:nvPr/>
        </p:nvGrpSpPr>
        <p:grpSpPr>
          <a:xfrm>
            <a:off x="8924925" y="4714875"/>
            <a:ext cx="876300" cy="647700"/>
            <a:chOff x="0" y="0"/>
            <a:chExt cx="1168400" cy="8636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168400" cy="863600"/>
            </a:xfrm>
            <a:custGeom>
              <a:avLst/>
              <a:gdLst/>
              <a:ahLst/>
              <a:cxnLst/>
              <a:rect l="l" t="t" r="r" b="b"/>
              <a:pathLst>
                <a:path w="1168400" h="863600">
                  <a:moveTo>
                    <a:pt x="0" y="0"/>
                  </a:moveTo>
                  <a:lnTo>
                    <a:pt x="1168400" y="0"/>
                  </a:lnTo>
                  <a:lnTo>
                    <a:pt x="1168400" y="863600"/>
                  </a:lnTo>
                  <a:lnTo>
                    <a:pt x="0" y="863600"/>
                  </a:lnTo>
                  <a:close/>
                </a:path>
              </a:pathLst>
            </a:custGeom>
            <a:blipFill>
              <a:blip r:embed="rId25"/>
              <a:stretch>
                <a:fillRect/>
              </a:stretch>
            </a:blipFill>
          </p:spPr>
        </p:sp>
      </p:grpSp>
      <p:grpSp>
        <p:nvGrpSpPr>
          <p:cNvPr id="59" name="Group 59"/>
          <p:cNvGrpSpPr/>
          <p:nvPr/>
        </p:nvGrpSpPr>
        <p:grpSpPr>
          <a:xfrm>
            <a:off x="8924925" y="4714875"/>
            <a:ext cx="1962150" cy="1285875"/>
            <a:chOff x="0" y="0"/>
            <a:chExt cx="2616200" cy="17145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2616200" cy="1714500"/>
            </a:xfrm>
            <a:custGeom>
              <a:avLst/>
              <a:gdLst/>
              <a:ahLst/>
              <a:cxnLst/>
              <a:rect l="l" t="t" r="r" b="b"/>
              <a:pathLst>
                <a:path w="2616200" h="1714500">
                  <a:moveTo>
                    <a:pt x="0" y="0"/>
                  </a:moveTo>
                  <a:lnTo>
                    <a:pt x="2616200" y="0"/>
                  </a:lnTo>
                  <a:lnTo>
                    <a:pt x="2616200" y="1714500"/>
                  </a:lnTo>
                  <a:lnTo>
                    <a:pt x="0" y="1714500"/>
                  </a:lnTo>
                  <a:close/>
                </a:path>
              </a:pathLst>
            </a:custGeom>
            <a:blipFill>
              <a:blip r:embed="rId26"/>
              <a:stretch>
                <a:fillRect/>
              </a:stretch>
            </a:blipFill>
          </p:spPr>
        </p:sp>
      </p:grpSp>
      <p:sp>
        <p:nvSpPr>
          <p:cNvPr id="61" name="TextBox 61"/>
          <p:cNvSpPr txBox="1"/>
          <p:nvPr/>
        </p:nvSpPr>
        <p:spPr>
          <a:xfrm rot="63281">
            <a:off x="9066843" y="6031390"/>
            <a:ext cx="1447210" cy="267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b="1" spc="-57">
                <a:solidFill>
                  <a:srgbClr val="112B2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Prepared meals</a:t>
            </a:r>
          </a:p>
        </p:txBody>
      </p:sp>
      <p:sp>
        <p:nvSpPr>
          <p:cNvPr id="62" name="TextBox 62"/>
          <p:cNvSpPr txBox="1"/>
          <p:nvPr/>
        </p:nvSpPr>
        <p:spPr>
          <a:xfrm rot="63281">
            <a:off x="9040638" y="6289254"/>
            <a:ext cx="1415265" cy="447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1494" spc="-44">
                <a:solidFill>
                  <a:srgbClr val="50605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Community Kitchen</a:t>
            </a:r>
          </a:p>
          <a:p>
            <a:pPr algn="l">
              <a:lnSpc>
                <a:spcPts val="1793"/>
              </a:lnSpc>
            </a:pPr>
            <a:r>
              <a:rPr lang="en-US" sz="1494" spc="-44">
                <a:solidFill>
                  <a:srgbClr val="50605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Fresh + Today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8924925" y="6858000"/>
            <a:ext cx="1743075" cy="428625"/>
            <a:chOff x="0" y="0"/>
            <a:chExt cx="2324100" cy="5715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2324100" cy="571500"/>
            </a:xfrm>
            <a:custGeom>
              <a:avLst/>
              <a:gdLst/>
              <a:ahLst/>
              <a:cxnLst/>
              <a:rect l="l" t="t" r="r" b="b"/>
              <a:pathLst>
                <a:path w="2324100" h="571500">
                  <a:moveTo>
                    <a:pt x="0" y="0"/>
                  </a:moveTo>
                  <a:lnTo>
                    <a:pt x="2324100" y="0"/>
                  </a:lnTo>
                  <a:lnTo>
                    <a:pt x="23241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27"/>
              <a:stretch>
                <a:fillRect/>
              </a:stretch>
            </a:blipFill>
          </p:spPr>
        </p:sp>
      </p:grpSp>
      <p:grpSp>
        <p:nvGrpSpPr>
          <p:cNvPr id="65" name="Group 65"/>
          <p:cNvGrpSpPr/>
          <p:nvPr/>
        </p:nvGrpSpPr>
        <p:grpSpPr>
          <a:xfrm>
            <a:off x="10668000" y="4714875"/>
            <a:ext cx="2400300" cy="3000375"/>
            <a:chOff x="0" y="0"/>
            <a:chExt cx="3200400" cy="400050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3200400" cy="4000500"/>
            </a:xfrm>
            <a:custGeom>
              <a:avLst/>
              <a:gdLst/>
              <a:ahLst/>
              <a:cxnLst/>
              <a:rect l="l" t="t" r="r" b="b"/>
              <a:pathLst>
                <a:path w="3200400" h="4000500">
                  <a:moveTo>
                    <a:pt x="0" y="0"/>
                  </a:moveTo>
                  <a:lnTo>
                    <a:pt x="3200400" y="0"/>
                  </a:lnTo>
                  <a:lnTo>
                    <a:pt x="3200400" y="4000500"/>
                  </a:lnTo>
                  <a:lnTo>
                    <a:pt x="0" y="4000500"/>
                  </a:lnTo>
                  <a:close/>
                </a:path>
              </a:pathLst>
            </a:custGeom>
            <a:blipFill>
              <a:blip r:embed="rId28"/>
              <a:stretch>
                <a:fillRect/>
              </a:stretch>
            </a:blipFill>
          </p:spPr>
        </p:sp>
      </p:grpSp>
      <p:grpSp>
        <p:nvGrpSpPr>
          <p:cNvPr id="67" name="Group 67"/>
          <p:cNvGrpSpPr/>
          <p:nvPr/>
        </p:nvGrpSpPr>
        <p:grpSpPr>
          <a:xfrm>
            <a:off x="10877550" y="4924425"/>
            <a:ext cx="885825" cy="438150"/>
            <a:chOff x="0" y="0"/>
            <a:chExt cx="1181100" cy="58420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181100" cy="584200"/>
            </a:xfrm>
            <a:custGeom>
              <a:avLst/>
              <a:gdLst/>
              <a:ahLst/>
              <a:cxnLst/>
              <a:rect l="l" t="t" r="r" b="b"/>
              <a:pathLst>
                <a:path w="1181100" h="584200">
                  <a:moveTo>
                    <a:pt x="0" y="0"/>
                  </a:moveTo>
                  <a:lnTo>
                    <a:pt x="1181100" y="0"/>
                  </a:lnTo>
                  <a:lnTo>
                    <a:pt x="1181100" y="584200"/>
                  </a:lnTo>
                  <a:lnTo>
                    <a:pt x="0" y="584200"/>
                  </a:lnTo>
                  <a:close/>
                </a:path>
              </a:pathLst>
            </a:custGeom>
            <a:blipFill>
              <a:blip r:embed="rId29"/>
              <a:stretch>
                <a:fillRect/>
              </a:stretch>
            </a:blipFill>
          </p:spPr>
        </p:sp>
      </p:grpSp>
      <p:grpSp>
        <p:nvGrpSpPr>
          <p:cNvPr id="69" name="Group 69"/>
          <p:cNvGrpSpPr/>
          <p:nvPr/>
        </p:nvGrpSpPr>
        <p:grpSpPr>
          <a:xfrm>
            <a:off x="10877550" y="4714875"/>
            <a:ext cx="2190750" cy="1285875"/>
            <a:chOff x="0" y="0"/>
            <a:chExt cx="2921000" cy="171450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2921000" cy="1714500"/>
            </a:xfrm>
            <a:custGeom>
              <a:avLst/>
              <a:gdLst/>
              <a:ahLst/>
              <a:cxnLst/>
              <a:rect l="l" t="t" r="r" b="b"/>
              <a:pathLst>
                <a:path w="2921000" h="1714500">
                  <a:moveTo>
                    <a:pt x="0" y="0"/>
                  </a:moveTo>
                  <a:lnTo>
                    <a:pt x="2921000" y="0"/>
                  </a:lnTo>
                  <a:lnTo>
                    <a:pt x="2921000" y="1714500"/>
                  </a:lnTo>
                  <a:lnTo>
                    <a:pt x="0" y="1714500"/>
                  </a:lnTo>
                  <a:close/>
                </a:path>
              </a:pathLst>
            </a:custGeom>
            <a:blipFill>
              <a:blip r:embed="rId30"/>
              <a:stretch>
                <a:fillRect/>
              </a:stretch>
            </a:blipFill>
          </p:spPr>
        </p:sp>
      </p:grpSp>
      <p:sp>
        <p:nvSpPr>
          <p:cNvPr id="71" name="TextBox 71"/>
          <p:cNvSpPr txBox="1"/>
          <p:nvPr/>
        </p:nvSpPr>
        <p:spPr>
          <a:xfrm rot="63281">
            <a:off x="11048019" y="6076597"/>
            <a:ext cx="1568623" cy="267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b="1" spc="-57">
                <a:solidFill>
                  <a:srgbClr val="112B2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Fresh vegetables</a:t>
            </a:r>
          </a:p>
        </p:txBody>
      </p:sp>
      <p:sp>
        <p:nvSpPr>
          <p:cNvPr id="72" name="TextBox 72"/>
          <p:cNvSpPr txBox="1"/>
          <p:nvPr/>
        </p:nvSpPr>
        <p:spPr>
          <a:xfrm rot="63281">
            <a:off x="11053762" y="6334460"/>
            <a:ext cx="1020926" cy="447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1494" spc="-44">
                <a:solidFill>
                  <a:srgbClr val="50605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Green Market</a:t>
            </a:r>
          </a:p>
          <a:p>
            <a:pPr algn="l">
              <a:lnSpc>
                <a:spcPts val="1793"/>
              </a:lnSpc>
            </a:pPr>
            <a:r>
              <a:rPr lang="en-US" sz="1494" spc="-44">
                <a:solidFill>
                  <a:srgbClr val="50605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Fresh + Today</a:t>
            </a:r>
          </a:p>
        </p:txBody>
      </p:sp>
      <p:grpSp>
        <p:nvGrpSpPr>
          <p:cNvPr id="73" name="Group 73"/>
          <p:cNvGrpSpPr/>
          <p:nvPr/>
        </p:nvGrpSpPr>
        <p:grpSpPr>
          <a:xfrm>
            <a:off x="10877550" y="6858000"/>
            <a:ext cx="1971675" cy="647700"/>
            <a:chOff x="0" y="0"/>
            <a:chExt cx="2628900" cy="86360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2628900" cy="863600"/>
            </a:xfrm>
            <a:custGeom>
              <a:avLst/>
              <a:gdLst/>
              <a:ahLst/>
              <a:cxnLst/>
              <a:rect l="l" t="t" r="r" b="b"/>
              <a:pathLst>
                <a:path w="2628900" h="863600">
                  <a:moveTo>
                    <a:pt x="0" y="0"/>
                  </a:moveTo>
                  <a:lnTo>
                    <a:pt x="2628900" y="0"/>
                  </a:lnTo>
                  <a:lnTo>
                    <a:pt x="2628900" y="863600"/>
                  </a:lnTo>
                  <a:lnTo>
                    <a:pt x="0" y="863600"/>
                  </a:lnTo>
                  <a:close/>
                </a:path>
              </a:pathLst>
            </a:custGeom>
            <a:blipFill>
              <a:blip r:embed="rId31"/>
              <a:stretch>
                <a:fillRect/>
              </a:stretch>
            </a:blipFill>
          </p:spPr>
        </p:sp>
      </p:grpSp>
      <p:sp>
        <p:nvSpPr>
          <p:cNvPr id="75" name="TextBox 75"/>
          <p:cNvSpPr txBox="1"/>
          <p:nvPr/>
        </p:nvSpPr>
        <p:spPr>
          <a:xfrm rot="63281">
            <a:off x="11648790" y="7056468"/>
            <a:ext cx="428219" cy="210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6"/>
              </a:lnSpc>
            </a:pPr>
            <a:r>
              <a:rPr lang="en-US" sz="1546" spc="-46">
                <a:solidFill>
                  <a:srgbClr val="EFE7D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Claim</a:t>
            </a:r>
          </a:p>
        </p:txBody>
      </p:sp>
      <p:grpSp>
        <p:nvGrpSpPr>
          <p:cNvPr id="76" name="Group 76"/>
          <p:cNvGrpSpPr/>
          <p:nvPr/>
        </p:nvGrpSpPr>
        <p:grpSpPr>
          <a:xfrm>
            <a:off x="12839700" y="4714875"/>
            <a:ext cx="2190750" cy="3000375"/>
            <a:chOff x="0" y="0"/>
            <a:chExt cx="2921000" cy="400050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2921000" cy="4000500"/>
            </a:xfrm>
            <a:custGeom>
              <a:avLst/>
              <a:gdLst/>
              <a:ahLst/>
              <a:cxnLst/>
              <a:rect l="l" t="t" r="r" b="b"/>
              <a:pathLst>
                <a:path w="2921000" h="4000500">
                  <a:moveTo>
                    <a:pt x="0" y="0"/>
                  </a:moveTo>
                  <a:lnTo>
                    <a:pt x="2921000" y="0"/>
                  </a:lnTo>
                  <a:lnTo>
                    <a:pt x="2921000" y="4000500"/>
                  </a:lnTo>
                  <a:lnTo>
                    <a:pt x="0" y="4000500"/>
                  </a:lnTo>
                  <a:close/>
                </a:path>
              </a:pathLst>
            </a:custGeom>
            <a:blipFill>
              <a:blip r:embed="rId32"/>
              <a:stretch>
                <a:fillRect/>
              </a:stretch>
            </a:blipFill>
          </p:spPr>
        </p:sp>
      </p:grpSp>
      <p:grpSp>
        <p:nvGrpSpPr>
          <p:cNvPr id="78" name="Group 78"/>
          <p:cNvGrpSpPr/>
          <p:nvPr/>
        </p:nvGrpSpPr>
        <p:grpSpPr>
          <a:xfrm>
            <a:off x="13058775" y="4924425"/>
            <a:ext cx="657225" cy="438150"/>
            <a:chOff x="0" y="0"/>
            <a:chExt cx="876300" cy="58420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876300" cy="584200"/>
            </a:xfrm>
            <a:custGeom>
              <a:avLst/>
              <a:gdLst/>
              <a:ahLst/>
              <a:cxnLst/>
              <a:rect l="l" t="t" r="r" b="b"/>
              <a:pathLst>
                <a:path w="876300" h="584200">
                  <a:moveTo>
                    <a:pt x="0" y="0"/>
                  </a:moveTo>
                  <a:lnTo>
                    <a:pt x="876300" y="0"/>
                  </a:lnTo>
                  <a:lnTo>
                    <a:pt x="876300" y="584200"/>
                  </a:lnTo>
                  <a:lnTo>
                    <a:pt x="0" y="584200"/>
                  </a:lnTo>
                  <a:close/>
                </a:path>
              </a:pathLst>
            </a:custGeom>
            <a:blipFill>
              <a:blip r:embed="rId33"/>
              <a:stretch>
                <a:fillRect/>
              </a:stretch>
            </a:blipFill>
          </p:spPr>
        </p:sp>
      </p:grpSp>
      <p:grpSp>
        <p:nvGrpSpPr>
          <p:cNvPr id="80" name="Group 80"/>
          <p:cNvGrpSpPr/>
          <p:nvPr/>
        </p:nvGrpSpPr>
        <p:grpSpPr>
          <a:xfrm>
            <a:off x="12839700" y="4714875"/>
            <a:ext cx="2190750" cy="1285875"/>
            <a:chOff x="0" y="0"/>
            <a:chExt cx="2921000" cy="171450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2921000" cy="1714500"/>
            </a:xfrm>
            <a:custGeom>
              <a:avLst/>
              <a:gdLst/>
              <a:ahLst/>
              <a:cxnLst/>
              <a:rect l="l" t="t" r="r" b="b"/>
              <a:pathLst>
                <a:path w="2921000" h="1714500">
                  <a:moveTo>
                    <a:pt x="0" y="0"/>
                  </a:moveTo>
                  <a:lnTo>
                    <a:pt x="2921000" y="0"/>
                  </a:lnTo>
                  <a:lnTo>
                    <a:pt x="2921000" y="1714500"/>
                  </a:lnTo>
                  <a:lnTo>
                    <a:pt x="0" y="1714500"/>
                  </a:lnTo>
                  <a:close/>
                </a:path>
              </a:pathLst>
            </a:custGeom>
            <a:blipFill>
              <a:blip r:embed="rId34"/>
              <a:stretch>
                <a:fillRect/>
              </a:stretch>
            </a:blipFill>
          </p:spPr>
        </p:sp>
      </p:grpSp>
      <p:sp>
        <p:nvSpPr>
          <p:cNvPr id="82" name="TextBox 82"/>
          <p:cNvSpPr txBox="1"/>
          <p:nvPr/>
        </p:nvSpPr>
        <p:spPr>
          <a:xfrm rot="63281">
            <a:off x="13114430" y="6121803"/>
            <a:ext cx="1203295" cy="267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b="1" spc="-57">
                <a:solidFill>
                  <a:srgbClr val="112B2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Bakery items</a:t>
            </a:r>
          </a:p>
        </p:txBody>
      </p:sp>
      <p:sp>
        <p:nvSpPr>
          <p:cNvPr id="83" name="TextBox 83"/>
          <p:cNvSpPr txBox="1"/>
          <p:nvPr/>
        </p:nvSpPr>
        <p:spPr>
          <a:xfrm rot="63281">
            <a:off x="13115737" y="6379667"/>
            <a:ext cx="1099146" cy="485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 spc="-48">
                <a:solidFill>
                  <a:srgbClr val="50605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Local Bakery</a:t>
            </a:r>
          </a:p>
          <a:p>
            <a:pPr algn="l">
              <a:lnSpc>
                <a:spcPts val="1940"/>
              </a:lnSpc>
            </a:pPr>
            <a:r>
              <a:rPr lang="en-US" sz="1617" spc="-48">
                <a:solidFill>
                  <a:srgbClr val="50605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Fresh + Today</a:t>
            </a:r>
          </a:p>
        </p:txBody>
      </p:sp>
      <p:grpSp>
        <p:nvGrpSpPr>
          <p:cNvPr id="84" name="Group 84"/>
          <p:cNvGrpSpPr/>
          <p:nvPr/>
        </p:nvGrpSpPr>
        <p:grpSpPr>
          <a:xfrm>
            <a:off x="13058775" y="6858000"/>
            <a:ext cx="1752600" cy="647700"/>
            <a:chOff x="0" y="0"/>
            <a:chExt cx="2336800" cy="863600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2336800" cy="863600"/>
            </a:xfrm>
            <a:custGeom>
              <a:avLst/>
              <a:gdLst/>
              <a:ahLst/>
              <a:cxnLst/>
              <a:rect l="l" t="t" r="r" b="b"/>
              <a:pathLst>
                <a:path w="2336800" h="863600">
                  <a:moveTo>
                    <a:pt x="0" y="0"/>
                  </a:moveTo>
                  <a:lnTo>
                    <a:pt x="2336800" y="0"/>
                  </a:lnTo>
                  <a:lnTo>
                    <a:pt x="2336800" y="863600"/>
                  </a:lnTo>
                  <a:lnTo>
                    <a:pt x="0" y="863600"/>
                  </a:lnTo>
                  <a:close/>
                </a:path>
              </a:pathLst>
            </a:custGeom>
            <a:blipFill>
              <a:blip r:embed="rId35"/>
              <a:stretch>
                <a:fillRect/>
              </a:stretch>
            </a:blipFill>
          </p:spPr>
        </p:sp>
      </p:grpSp>
      <p:grpSp>
        <p:nvGrpSpPr>
          <p:cNvPr id="86" name="Group 86"/>
          <p:cNvGrpSpPr/>
          <p:nvPr/>
        </p:nvGrpSpPr>
        <p:grpSpPr>
          <a:xfrm>
            <a:off x="15020925" y="4714875"/>
            <a:ext cx="2400300" cy="3000375"/>
            <a:chOff x="0" y="0"/>
            <a:chExt cx="3200400" cy="400050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3200400" cy="4000500"/>
            </a:xfrm>
            <a:custGeom>
              <a:avLst/>
              <a:gdLst/>
              <a:ahLst/>
              <a:cxnLst/>
              <a:rect l="l" t="t" r="r" b="b"/>
              <a:pathLst>
                <a:path w="3200400" h="4000500">
                  <a:moveTo>
                    <a:pt x="0" y="0"/>
                  </a:moveTo>
                  <a:lnTo>
                    <a:pt x="3200400" y="0"/>
                  </a:lnTo>
                  <a:lnTo>
                    <a:pt x="3200400" y="4000500"/>
                  </a:lnTo>
                  <a:lnTo>
                    <a:pt x="0" y="4000500"/>
                  </a:lnTo>
                  <a:close/>
                </a:path>
              </a:pathLst>
            </a:custGeom>
            <a:blipFill>
              <a:blip r:embed="rId36"/>
              <a:stretch>
                <a:fillRect/>
              </a:stretch>
            </a:blipFill>
          </p:spPr>
        </p:sp>
      </p:grpSp>
      <p:grpSp>
        <p:nvGrpSpPr>
          <p:cNvPr id="88" name="Group 88"/>
          <p:cNvGrpSpPr/>
          <p:nvPr/>
        </p:nvGrpSpPr>
        <p:grpSpPr>
          <a:xfrm>
            <a:off x="15449550" y="5353050"/>
            <a:ext cx="666750" cy="647700"/>
            <a:chOff x="0" y="0"/>
            <a:chExt cx="889000" cy="863600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889000" cy="863600"/>
            </a:xfrm>
            <a:custGeom>
              <a:avLst/>
              <a:gdLst/>
              <a:ahLst/>
              <a:cxnLst/>
              <a:rect l="l" t="t" r="r" b="b"/>
              <a:pathLst>
                <a:path w="889000" h="863600">
                  <a:moveTo>
                    <a:pt x="0" y="0"/>
                  </a:moveTo>
                  <a:lnTo>
                    <a:pt x="889000" y="0"/>
                  </a:lnTo>
                  <a:lnTo>
                    <a:pt x="889000" y="863600"/>
                  </a:lnTo>
                  <a:lnTo>
                    <a:pt x="0" y="863600"/>
                  </a:lnTo>
                  <a:close/>
                </a:path>
              </a:pathLst>
            </a:custGeom>
            <a:blipFill>
              <a:blip r:embed="rId37"/>
              <a:stretch>
                <a:fillRect/>
              </a:stretch>
            </a:blipFill>
          </p:spPr>
        </p:sp>
      </p:grpSp>
      <p:sp>
        <p:nvSpPr>
          <p:cNvPr id="90" name="TextBox 90"/>
          <p:cNvSpPr txBox="1"/>
          <p:nvPr/>
        </p:nvSpPr>
        <p:spPr>
          <a:xfrm rot="63281">
            <a:off x="15308550" y="6061528"/>
            <a:ext cx="1461679" cy="267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b="1" spc="-57">
                <a:solidFill>
                  <a:srgbClr val="F28A3D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Make an impact</a:t>
            </a:r>
          </a:p>
        </p:txBody>
      </p:sp>
      <p:sp>
        <p:nvSpPr>
          <p:cNvPr id="91" name="TextBox 91"/>
          <p:cNvSpPr txBox="1"/>
          <p:nvPr/>
        </p:nvSpPr>
        <p:spPr>
          <a:xfrm rot="110742">
            <a:off x="15280298" y="6486753"/>
            <a:ext cx="1687219" cy="621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1784" spc="-53">
                <a:solidFill>
                  <a:srgbClr val="EFE7D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Share food. Support your community.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3656099" y="3635842"/>
            <a:ext cx="632307" cy="210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6"/>
              </a:lnSpc>
            </a:pPr>
            <a:r>
              <a:rPr lang="en-US" sz="1546" spc="-46">
                <a:solidFill>
                  <a:srgbClr val="50605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Near me</a:t>
            </a:r>
          </a:p>
        </p:txBody>
      </p:sp>
      <p:sp>
        <p:nvSpPr>
          <p:cNvPr id="93" name="TextBox 93"/>
          <p:cNvSpPr txBox="1"/>
          <p:nvPr/>
        </p:nvSpPr>
        <p:spPr>
          <a:xfrm rot="-63281">
            <a:off x="15637277" y="1405650"/>
            <a:ext cx="770516" cy="210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6"/>
              </a:lnSpc>
            </a:pPr>
            <a:r>
              <a:rPr lang="en-US" sz="1546" spc="-46">
                <a:solidFill>
                  <a:srgbClr val="EFE7D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Messages</a:t>
            </a:r>
          </a:p>
        </p:txBody>
      </p:sp>
      <p:sp>
        <p:nvSpPr>
          <p:cNvPr id="94" name="TextBox 94"/>
          <p:cNvSpPr txBox="1"/>
          <p:nvPr/>
        </p:nvSpPr>
        <p:spPr>
          <a:xfrm rot="-63281">
            <a:off x="14565834" y="1435788"/>
            <a:ext cx="758610" cy="210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6"/>
              </a:lnSpc>
            </a:pPr>
            <a:r>
              <a:rPr lang="en-US" sz="1546" spc="-46">
                <a:solidFill>
                  <a:srgbClr val="EFE7D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Donations</a:t>
            </a:r>
          </a:p>
        </p:txBody>
      </p:sp>
      <p:sp>
        <p:nvSpPr>
          <p:cNvPr id="95" name="TextBox 95"/>
          <p:cNvSpPr txBox="1"/>
          <p:nvPr/>
        </p:nvSpPr>
        <p:spPr>
          <a:xfrm rot="63281">
            <a:off x="11166779" y="4992661"/>
            <a:ext cx="410188" cy="154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5"/>
              </a:lnSpc>
            </a:pPr>
            <a:r>
              <a:rPr lang="en-US" sz="1195" spc="-35">
                <a:solidFill>
                  <a:srgbClr val="112B2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0.4 km</a:t>
            </a:r>
          </a:p>
        </p:txBody>
      </p:sp>
      <p:sp>
        <p:nvSpPr>
          <p:cNvPr id="96" name="TextBox 96"/>
          <p:cNvSpPr txBox="1"/>
          <p:nvPr/>
        </p:nvSpPr>
        <p:spPr>
          <a:xfrm rot="63281">
            <a:off x="9184388" y="4962523"/>
            <a:ext cx="410188" cy="154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5"/>
              </a:lnSpc>
            </a:pPr>
            <a:r>
              <a:rPr lang="en-US" sz="1195" spc="-35">
                <a:solidFill>
                  <a:srgbClr val="112B2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0.1 km</a:t>
            </a:r>
          </a:p>
        </p:txBody>
      </p:sp>
      <p:sp>
        <p:nvSpPr>
          <p:cNvPr id="97" name="TextBox 97"/>
          <p:cNvSpPr txBox="1"/>
          <p:nvPr/>
        </p:nvSpPr>
        <p:spPr>
          <a:xfrm rot="-63281">
            <a:off x="13602411" y="1450857"/>
            <a:ext cx="660287" cy="210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6"/>
              </a:lnSpc>
            </a:pPr>
            <a:r>
              <a:rPr lang="en-US" sz="1546" b="1" spc="-46">
                <a:solidFill>
                  <a:srgbClr val="EFE7D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Discover</a:t>
            </a:r>
          </a:p>
        </p:txBody>
      </p:sp>
      <p:sp>
        <p:nvSpPr>
          <p:cNvPr id="98" name="TextBox 98"/>
          <p:cNvSpPr txBox="1"/>
          <p:nvPr/>
        </p:nvSpPr>
        <p:spPr>
          <a:xfrm rot="63281">
            <a:off x="13202747" y="5022798"/>
            <a:ext cx="410188" cy="154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5"/>
              </a:lnSpc>
            </a:pPr>
            <a:r>
              <a:rPr lang="en-US" sz="1195" spc="-35">
                <a:solidFill>
                  <a:srgbClr val="112B2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0.5 km</a:t>
            </a:r>
          </a:p>
        </p:txBody>
      </p:sp>
      <p:sp>
        <p:nvSpPr>
          <p:cNvPr id="99" name="TextBox 99"/>
          <p:cNvSpPr txBox="1"/>
          <p:nvPr/>
        </p:nvSpPr>
        <p:spPr>
          <a:xfrm rot="-63281">
            <a:off x="16711679" y="1375513"/>
            <a:ext cx="486558" cy="210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6"/>
              </a:lnSpc>
            </a:pPr>
            <a:r>
              <a:rPr lang="en-US" sz="1546" spc="-46">
                <a:solidFill>
                  <a:srgbClr val="EFE7D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Profile</a:t>
            </a:r>
          </a:p>
        </p:txBody>
      </p:sp>
      <p:sp>
        <p:nvSpPr>
          <p:cNvPr id="100" name="TextBox 100"/>
          <p:cNvSpPr txBox="1"/>
          <p:nvPr/>
        </p:nvSpPr>
        <p:spPr>
          <a:xfrm rot="63281">
            <a:off x="13711548" y="7131812"/>
            <a:ext cx="428219" cy="210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6"/>
              </a:lnSpc>
            </a:pPr>
            <a:r>
              <a:rPr lang="en-US" sz="1546" spc="-46">
                <a:solidFill>
                  <a:srgbClr val="EFE7D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Claim</a:t>
            </a:r>
          </a:p>
        </p:txBody>
      </p:sp>
      <p:sp>
        <p:nvSpPr>
          <p:cNvPr id="101" name="TextBox 101"/>
          <p:cNvSpPr txBox="1"/>
          <p:nvPr/>
        </p:nvSpPr>
        <p:spPr>
          <a:xfrm rot="63281">
            <a:off x="9639610" y="6996193"/>
            <a:ext cx="428219" cy="210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6"/>
              </a:lnSpc>
            </a:pPr>
            <a:r>
              <a:rPr lang="en-US" sz="1546" spc="-46">
                <a:solidFill>
                  <a:srgbClr val="EFE7D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Claim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4582775" y="0"/>
            <a:ext cx="3705225" cy="2362200"/>
            <a:chOff x="0" y="0"/>
            <a:chExt cx="4940300" cy="3149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940300" cy="3149600"/>
            </a:xfrm>
            <a:custGeom>
              <a:avLst/>
              <a:gdLst/>
              <a:ahLst/>
              <a:cxnLst/>
              <a:rect l="l" t="t" r="r" b="b"/>
              <a:pathLst>
                <a:path w="4940300" h="3149600">
                  <a:moveTo>
                    <a:pt x="0" y="0"/>
                  </a:moveTo>
                  <a:lnTo>
                    <a:pt x="4940300" y="0"/>
                  </a:lnTo>
                  <a:lnTo>
                    <a:pt x="4940300" y="3149600"/>
                  </a:lnTo>
                  <a:lnTo>
                    <a:pt x="0" y="314960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0" y="8143875"/>
            <a:ext cx="3048000" cy="2143125"/>
            <a:chOff x="0" y="0"/>
            <a:chExt cx="4064000" cy="28575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64000" cy="2857500"/>
            </a:xfrm>
            <a:custGeom>
              <a:avLst/>
              <a:gdLst/>
              <a:ahLst/>
              <a:cxnLst/>
              <a:rect l="l" t="t" r="r" b="b"/>
              <a:pathLst>
                <a:path w="4064000" h="2857500">
                  <a:moveTo>
                    <a:pt x="0" y="0"/>
                  </a:moveTo>
                  <a:lnTo>
                    <a:pt x="4064000" y="0"/>
                  </a:lnTo>
                  <a:lnTo>
                    <a:pt x="4064000" y="2857500"/>
                  </a:lnTo>
                  <a:lnTo>
                    <a:pt x="0" y="28575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5449550" y="8572500"/>
            <a:ext cx="2838450" cy="1714500"/>
            <a:chOff x="0" y="0"/>
            <a:chExt cx="3784600" cy="2286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784600" cy="2286000"/>
            </a:xfrm>
            <a:custGeom>
              <a:avLst/>
              <a:gdLst/>
              <a:ahLst/>
              <a:cxnLst/>
              <a:rect l="l" t="t" r="r" b="b"/>
              <a:pathLst>
                <a:path w="3784600" h="2286000">
                  <a:moveTo>
                    <a:pt x="0" y="0"/>
                  </a:moveTo>
                  <a:lnTo>
                    <a:pt x="3784600" y="0"/>
                  </a:lnTo>
                  <a:lnTo>
                    <a:pt x="3784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677786" y="567674"/>
            <a:ext cx="7230748" cy="141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29"/>
              </a:lnSpc>
            </a:pPr>
            <a:r>
              <a:rPr lang="en-US" sz="10229" b="1" spc="-204">
                <a:solidFill>
                  <a:srgbClr val="F2F0E7"/>
                </a:solidFill>
                <a:latin typeface="Open Sans Hebrew Condensed Ultra-Bold"/>
                <a:ea typeface="Open Sans Hebrew Condensed Ultra-Bold"/>
                <a:cs typeface="Open Sans Hebrew Condensed Ultra-Bold"/>
                <a:sym typeface="Open Sans Hebrew Condensed Ultra-Bold"/>
              </a:rPr>
              <a:t>How It Works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47700" y="1714500"/>
            <a:ext cx="1314450" cy="428625"/>
            <a:chOff x="0" y="0"/>
            <a:chExt cx="1752600" cy="5715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52600" cy="571500"/>
            </a:xfrm>
            <a:custGeom>
              <a:avLst/>
              <a:gdLst/>
              <a:ahLst/>
              <a:cxnLst/>
              <a:rect l="l" t="t" r="r" b="b"/>
              <a:pathLst>
                <a:path w="1752600" h="571500">
                  <a:moveTo>
                    <a:pt x="0" y="0"/>
                  </a:moveTo>
                  <a:lnTo>
                    <a:pt x="1752600" y="0"/>
                  </a:lnTo>
                  <a:lnTo>
                    <a:pt x="17526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647700" y="2571750"/>
            <a:ext cx="3924300" cy="4714875"/>
            <a:chOff x="0" y="0"/>
            <a:chExt cx="5232400" cy="62865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232400" cy="6286500"/>
            </a:xfrm>
            <a:custGeom>
              <a:avLst/>
              <a:gdLst/>
              <a:ahLst/>
              <a:cxnLst/>
              <a:rect l="l" t="t" r="r" b="b"/>
              <a:pathLst>
                <a:path w="5232400" h="6286500">
                  <a:moveTo>
                    <a:pt x="0" y="0"/>
                  </a:moveTo>
                  <a:lnTo>
                    <a:pt x="5232400" y="0"/>
                  </a:lnTo>
                  <a:lnTo>
                    <a:pt x="5232400" y="6286500"/>
                  </a:lnTo>
                  <a:lnTo>
                    <a:pt x="0" y="628650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2171700" y="2143125"/>
            <a:ext cx="1095375" cy="1076325"/>
            <a:chOff x="0" y="0"/>
            <a:chExt cx="1460500" cy="14351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60500" cy="1435100"/>
            </a:xfrm>
            <a:custGeom>
              <a:avLst/>
              <a:gdLst/>
              <a:ahLst/>
              <a:cxnLst/>
              <a:rect l="l" t="t" r="r" b="b"/>
              <a:pathLst>
                <a:path w="1460500" h="1435100">
                  <a:moveTo>
                    <a:pt x="0" y="0"/>
                  </a:moveTo>
                  <a:lnTo>
                    <a:pt x="1460500" y="0"/>
                  </a:lnTo>
                  <a:lnTo>
                    <a:pt x="1460500" y="1435100"/>
                  </a:lnTo>
                  <a:lnTo>
                    <a:pt x="0" y="143510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2476782" y="2422094"/>
            <a:ext cx="278876" cy="63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85"/>
              </a:lnSpc>
            </a:pPr>
            <a:r>
              <a:rPr lang="en-US" sz="4585" b="1" spc="-91">
                <a:solidFill>
                  <a:srgbClr val="F2F0E7"/>
                </a:solidFill>
                <a:latin typeface="Open Sans Hebrew Condensed Ultra-Bold"/>
                <a:ea typeface="Open Sans Hebrew Condensed Ultra-Bold"/>
                <a:cs typeface="Open Sans Hebrew Condensed Ultra-Bold"/>
                <a:sym typeface="Open Sans Hebrew Condensed Ultra-Bold"/>
              </a:rPr>
              <a:t>1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524000" y="3000375"/>
            <a:ext cx="2181225" cy="2362200"/>
            <a:chOff x="0" y="0"/>
            <a:chExt cx="2908300" cy="31496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908300" cy="3149600"/>
            </a:xfrm>
            <a:custGeom>
              <a:avLst/>
              <a:gdLst/>
              <a:ahLst/>
              <a:cxnLst/>
              <a:rect l="l" t="t" r="r" b="b"/>
              <a:pathLst>
                <a:path w="2908300" h="3149600">
                  <a:moveTo>
                    <a:pt x="0" y="0"/>
                  </a:moveTo>
                  <a:lnTo>
                    <a:pt x="2908300" y="0"/>
                  </a:lnTo>
                  <a:lnTo>
                    <a:pt x="2908300" y="3149600"/>
                  </a:lnTo>
                  <a:lnTo>
                    <a:pt x="0" y="314960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1733550" y="3429000"/>
            <a:ext cx="1752600" cy="1504950"/>
            <a:chOff x="0" y="0"/>
            <a:chExt cx="2336800" cy="20066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336800" cy="2006600"/>
            </a:xfrm>
            <a:custGeom>
              <a:avLst/>
              <a:gdLst/>
              <a:ahLst/>
              <a:cxnLst/>
              <a:rect l="l" t="t" r="r" b="b"/>
              <a:pathLst>
                <a:path w="2336800" h="2006600">
                  <a:moveTo>
                    <a:pt x="0" y="0"/>
                  </a:moveTo>
                  <a:lnTo>
                    <a:pt x="2336800" y="0"/>
                  </a:lnTo>
                  <a:lnTo>
                    <a:pt x="2336800" y="2006600"/>
                  </a:lnTo>
                  <a:lnTo>
                    <a:pt x="0" y="200660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1736945" y="5380385"/>
            <a:ext cx="1714616" cy="550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31"/>
              </a:lnSpc>
            </a:pPr>
            <a:r>
              <a:rPr lang="en-US" sz="4031" b="1" spc="-80">
                <a:solidFill>
                  <a:srgbClr val="F67D33"/>
                </a:solidFill>
                <a:latin typeface="Open Sans Hebrew Condensed Ultra-Bold"/>
                <a:ea typeface="Open Sans Hebrew Condensed Ultra-Bold"/>
                <a:cs typeface="Open Sans Hebrew Condensed Ultra-Bold"/>
                <a:sym typeface="Open Sans Hebrew Condensed Ultra-Bold"/>
              </a:rPr>
              <a:t>DONATE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892399" y="5997401"/>
            <a:ext cx="1496398" cy="800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</a:pPr>
            <a:r>
              <a:rPr lang="en-US" sz="2654" spc="-53">
                <a:solidFill>
                  <a:srgbClr val="194037"/>
                </a:solidFill>
                <a:latin typeface="Open Sans Hebrew Condensed"/>
                <a:ea typeface="Open Sans Hebrew Condensed"/>
                <a:cs typeface="Open Sans Hebrew Condensed"/>
                <a:sym typeface="Open Sans Hebrew Condensed"/>
              </a:rPr>
              <a:t>provides list</a:t>
            </a:r>
          </a:p>
          <a:p>
            <a:pPr algn="ctr">
              <a:lnSpc>
                <a:spcPts val="3185"/>
              </a:lnSpc>
            </a:pPr>
            <a:r>
              <a:rPr lang="en-US" sz="2654" spc="-53">
                <a:solidFill>
                  <a:srgbClr val="194037"/>
                </a:solidFill>
                <a:latin typeface="Open Sans Hebrew Condensed"/>
                <a:ea typeface="Open Sans Hebrew Condensed"/>
                <a:cs typeface="Open Sans Hebrew Condensed"/>
                <a:sym typeface="Open Sans Hebrew Condensed"/>
              </a:rPr>
              <a:t>surplus food.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3914775" y="3638550"/>
            <a:ext cx="1752600" cy="1076325"/>
            <a:chOff x="0" y="0"/>
            <a:chExt cx="2336800" cy="14351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336800" cy="1435100"/>
            </a:xfrm>
            <a:custGeom>
              <a:avLst/>
              <a:gdLst/>
              <a:ahLst/>
              <a:cxnLst/>
              <a:rect l="l" t="t" r="r" b="b"/>
              <a:pathLst>
                <a:path w="2336800" h="1435100">
                  <a:moveTo>
                    <a:pt x="0" y="0"/>
                  </a:moveTo>
                  <a:lnTo>
                    <a:pt x="2336800" y="0"/>
                  </a:lnTo>
                  <a:lnTo>
                    <a:pt x="2336800" y="1435100"/>
                  </a:lnTo>
                  <a:lnTo>
                    <a:pt x="0" y="143510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grpSp>
        <p:nvGrpSpPr>
          <p:cNvPr id="27" name="Group 27"/>
          <p:cNvGrpSpPr/>
          <p:nvPr/>
        </p:nvGrpSpPr>
        <p:grpSpPr>
          <a:xfrm>
            <a:off x="4572000" y="3857625"/>
            <a:ext cx="657225" cy="647700"/>
            <a:chOff x="0" y="0"/>
            <a:chExt cx="876300" cy="8636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76300" cy="863600"/>
            </a:xfrm>
            <a:custGeom>
              <a:avLst/>
              <a:gdLst/>
              <a:ahLst/>
              <a:cxnLst/>
              <a:rect l="l" t="t" r="r" b="b"/>
              <a:pathLst>
                <a:path w="876300" h="863600">
                  <a:moveTo>
                    <a:pt x="0" y="0"/>
                  </a:moveTo>
                  <a:lnTo>
                    <a:pt x="876300" y="0"/>
                  </a:lnTo>
                  <a:lnTo>
                    <a:pt x="876300" y="863600"/>
                  </a:lnTo>
                  <a:lnTo>
                    <a:pt x="0" y="86360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</p:grpSp>
      <p:grpSp>
        <p:nvGrpSpPr>
          <p:cNvPr id="29" name="Group 29"/>
          <p:cNvGrpSpPr/>
          <p:nvPr/>
        </p:nvGrpSpPr>
        <p:grpSpPr>
          <a:xfrm>
            <a:off x="5000625" y="2571750"/>
            <a:ext cx="3933825" cy="4714875"/>
            <a:chOff x="0" y="0"/>
            <a:chExt cx="5245100" cy="62865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245100" cy="6286500"/>
            </a:xfrm>
            <a:custGeom>
              <a:avLst/>
              <a:gdLst/>
              <a:ahLst/>
              <a:cxnLst/>
              <a:rect l="l" t="t" r="r" b="b"/>
              <a:pathLst>
                <a:path w="5245100" h="6286500">
                  <a:moveTo>
                    <a:pt x="0" y="0"/>
                  </a:moveTo>
                  <a:lnTo>
                    <a:pt x="5245100" y="0"/>
                  </a:lnTo>
                  <a:lnTo>
                    <a:pt x="5245100" y="6286500"/>
                  </a:lnTo>
                  <a:lnTo>
                    <a:pt x="0" y="6286500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</p:sp>
      </p:grpSp>
      <p:grpSp>
        <p:nvGrpSpPr>
          <p:cNvPr id="31" name="Group 31"/>
          <p:cNvGrpSpPr/>
          <p:nvPr/>
        </p:nvGrpSpPr>
        <p:grpSpPr>
          <a:xfrm>
            <a:off x="6524625" y="2143125"/>
            <a:ext cx="1095375" cy="1076325"/>
            <a:chOff x="0" y="0"/>
            <a:chExt cx="1460500" cy="14351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460500" cy="1435100"/>
            </a:xfrm>
            <a:custGeom>
              <a:avLst/>
              <a:gdLst/>
              <a:ahLst/>
              <a:cxnLst/>
              <a:rect l="l" t="t" r="r" b="b"/>
              <a:pathLst>
                <a:path w="1460500" h="1435100">
                  <a:moveTo>
                    <a:pt x="0" y="0"/>
                  </a:moveTo>
                  <a:lnTo>
                    <a:pt x="1460500" y="0"/>
                  </a:lnTo>
                  <a:lnTo>
                    <a:pt x="1460500" y="1435100"/>
                  </a:lnTo>
                  <a:lnTo>
                    <a:pt x="0" y="143510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</p:sp>
      </p:grpSp>
      <p:grpSp>
        <p:nvGrpSpPr>
          <p:cNvPr id="33" name="Group 33"/>
          <p:cNvGrpSpPr/>
          <p:nvPr/>
        </p:nvGrpSpPr>
        <p:grpSpPr>
          <a:xfrm>
            <a:off x="5876925" y="3000375"/>
            <a:ext cx="2400300" cy="2362200"/>
            <a:chOff x="0" y="0"/>
            <a:chExt cx="3200400" cy="31496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200400" cy="3149600"/>
            </a:xfrm>
            <a:custGeom>
              <a:avLst/>
              <a:gdLst/>
              <a:ahLst/>
              <a:cxnLst/>
              <a:rect l="l" t="t" r="r" b="b"/>
              <a:pathLst>
                <a:path w="3200400" h="3149600">
                  <a:moveTo>
                    <a:pt x="0" y="0"/>
                  </a:moveTo>
                  <a:lnTo>
                    <a:pt x="3200400" y="0"/>
                  </a:lnTo>
                  <a:lnTo>
                    <a:pt x="3200400" y="3149600"/>
                  </a:lnTo>
                  <a:lnTo>
                    <a:pt x="0" y="3149600"/>
                  </a:lnTo>
                  <a:close/>
                </a:path>
              </a:pathLst>
            </a:custGeom>
            <a:blipFill>
              <a:blip r:embed="rId16"/>
              <a:stretch>
                <a:fillRect/>
              </a:stretch>
            </a:blipFill>
          </p:spPr>
        </p:sp>
      </p:grpSp>
      <p:grpSp>
        <p:nvGrpSpPr>
          <p:cNvPr id="35" name="Group 35"/>
          <p:cNvGrpSpPr/>
          <p:nvPr/>
        </p:nvGrpSpPr>
        <p:grpSpPr>
          <a:xfrm>
            <a:off x="6305550" y="3429000"/>
            <a:ext cx="1533525" cy="1504950"/>
            <a:chOff x="0" y="0"/>
            <a:chExt cx="2044700" cy="20066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044700" cy="2006600"/>
            </a:xfrm>
            <a:custGeom>
              <a:avLst/>
              <a:gdLst/>
              <a:ahLst/>
              <a:cxnLst/>
              <a:rect l="l" t="t" r="r" b="b"/>
              <a:pathLst>
                <a:path w="2044700" h="2006600">
                  <a:moveTo>
                    <a:pt x="0" y="0"/>
                  </a:moveTo>
                  <a:lnTo>
                    <a:pt x="2044700" y="0"/>
                  </a:lnTo>
                  <a:lnTo>
                    <a:pt x="2044700" y="2006600"/>
                  </a:lnTo>
                  <a:lnTo>
                    <a:pt x="0" y="2006600"/>
                  </a:lnTo>
                  <a:close/>
                </a:path>
              </a:pathLst>
            </a:custGeom>
            <a:blipFill>
              <a:blip r:embed="rId17"/>
              <a:stretch>
                <a:fillRect/>
              </a:stretch>
            </a:blipFill>
          </p:spPr>
        </p:sp>
      </p:grpSp>
      <p:sp>
        <p:nvSpPr>
          <p:cNvPr id="37" name="TextBox 37"/>
          <p:cNvSpPr txBox="1"/>
          <p:nvPr/>
        </p:nvSpPr>
        <p:spPr>
          <a:xfrm>
            <a:off x="6102668" y="5379609"/>
            <a:ext cx="1845527" cy="514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5"/>
              </a:lnSpc>
            </a:pPr>
            <a:r>
              <a:rPr lang="en-US" sz="3755" b="1" spc="-75">
                <a:solidFill>
                  <a:srgbClr val="F67D33"/>
                </a:solidFill>
                <a:latin typeface="Open Sans Hebrew Condensed Ultra-Bold"/>
                <a:ea typeface="Open Sans Hebrew Condensed Ultra-Bold"/>
                <a:cs typeface="Open Sans Hebrew Condensed Ultra-Bold"/>
                <a:sym typeface="Open Sans Hebrew Condensed Ultra-Bold"/>
              </a:rPr>
              <a:t>DISCOVER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493450" y="5952195"/>
            <a:ext cx="3063964" cy="780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0"/>
              </a:lnSpc>
            </a:pPr>
            <a:r>
              <a:rPr lang="en-US" sz="2575" spc="-51">
                <a:solidFill>
                  <a:srgbClr val="194037"/>
                </a:solidFill>
                <a:latin typeface="Open Sans Hebrew Condensed"/>
                <a:ea typeface="Open Sans Hebrew Condensed"/>
                <a:cs typeface="Open Sans Hebrew Condensed"/>
                <a:sym typeface="Open Sans Hebrew Condensed"/>
              </a:rPr>
              <a:t>Individuals or organizations browse available donations.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8267700" y="3638550"/>
            <a:ext cx="1752600" cy="1076325"/>
            <a:chOff x="0" y="0"/>
            <a:chExt cx="2336800" cy="14351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336800" cy="1435100"/>
            </a:xfrm>
            <a:custGeom>
              <a:avLst/>
              <a:gdLst/>
              <a:ahLst/>
              <a:cxnLst/>
              <a:rect l="l" t="t" r="r" b="b"/>
              <a:pathLst>
                <a:path w="2336800" h="1435100">
                  <a:moveTo>
                    <a:pt x="0" y="0"/>
                  </a:moveTo>
                  <a:lnTo>
                    <a:pt x="2336800" y="0"/>
                  </a:lnTo>
                  <a:lnTo>
                    <a:pt x="2336800" y="1435100"/>
                  </a:lnTo>
                  <a:lnTo>
                    <a:pt x="0" y="1435100"/>
                  </a:lnTo>
                  <a:close/>
                </a:path>
              </a:pathLst>
            </a:custGeom>
            <a:blipFill>
              <a:blip r:embed="rId18"/>
              <a:stretch>
                <a:fillRect/>
              </a:stretch>
            </a:blipFill>
          </p:spPr>
        </p:sp>
      </p:grpSp>
      <p:grpSp>
        <p:nvGrpSpPr>
          <p:cNvPr id="41" name="Group 41"/>
          <p:cNvGrpSpPr/>
          <p:nvPr/>
        </p:nvGrpSpPr>
        <p:grpSpPr>
          <a:xfrm>
            <a:off x="8924925" y="3857625"/>
            <a:ext cx="657225" cy="647700"/>
            <a:chOff x="0" y="0"/>
            <a:chExt cx="876300" cy="8636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76300" cy="863600"/>
            </a:xfrm>
            <a:custGeom>
              <a:avLst/>
              <a:gdLst/>
              <a:ahLst/>
              <a:cxnLst/>
              <a:rect l="l" t="t" r="r" b="b"/>
              <a:pathLst>
                <a:path w="876300" h="863600">
                  <a:moveTo>
                    <a:pt x="0" y="0"/>
                  </a:moveTo>
                  <a:lnTo>
                    <a:pt x="876300" y="0"/>
                  </a:lnTo>
                  <a:lnTo>
                    <a:pt x="876300" y="863600"/>
                  </a:lnTo>
                  <a:lnTo>
                    <a:pt x="0" y="863600"/>
                  </a:lnTo>
                  <a:close/>
                </a:path>
              </a:pathLst>
            </a:custGeom>
            <a:blipFill>
              <a:blip r:embed="rId19"/>
              <a:stretch>
                <a:fillRect/>
              </a:stretch>
            </a:blipFill>
          </p:spPr>
        </p:sp>
      </p:grpSp>
      <p:grpSp>
        <p:nvGrpSpPr>
          <p:cNvPr id="43" name="Group 43"/>
          <p:cNvGrpSpPr/>
          <p:nvPr/>
        </p:nvGrpSpPr>
        <p:grpSpPr>
          <a:xfrm>
            <a:off x="9353550" y="2571750"/>
            <a:ext cx="3933825" cy="4714875"/>
            <a:chOff x="0" y="0"/>
            <a:chExt cx="5245100" cy="62865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245100" cy="6286500"/>
            </a:xfrm>
            <a:custGeom>
              <a:avLst/>
              <a:gdLst/>
              <a:ahLst/>
              <a:cxnLst/>
              <a:rect l="l" t="t" r="r" b="b"/>
              <a:pathLst>
                <a:path w="5245100" h="6286500">
                  <a:moveTo>
                    <a:pt x="0" y="0"/>
                  </a:moveTo>
                  <a:lnTo>
                    <a:pt x="5245100" y="0"/>
                  </a:lnTo>
                  <a:lnTo>
                    <a:pt x="5245100" y="6286500"/>
                  </a:lnTo>
                  <a:lnTo>
                    <a:pt x="0" y="6286500"/>
                  </a:lnTo>
                  <a:close/>
                </a:path>
              </a:pathLst>
            </a:custGeom>
            <a:blipFill>
              <a:blip r:embed="rId20"/>
              <a:stretch>
                <a:fillRect/>
              </a:stretch>
            </a:blipFill>
          </p:spPr>
        </p:sp>
      </p:grpSp>
      <p:grpSp>
        <p:nvGrpSpPr>
          <p:cNvPr id="45" name="Group 45"/>
          <p:cNvGrpSpPr/>
          <p:nvPr/>
        </p:nvGrpSpPr>
        <p:grpSpPr>
          <a:xfrm>
            <a:off x="10668000" y="2143125"/>
            <a:ext cx="1095375" cy="1076325"/>
            <a:chOff x="0" y="0"/>
            <a:chExt cx="1460500" cy="14351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460500" cy="1435100"/>
            </a:xfrm>
            <a:custGeom>
              <a:avLst/>
              <a:gdLst/>
              <a:ahLst/>
              <a:cxnLst/>
              <a:rect l="l" t="t" r="r" b="b"/>
              <a:pathLst>
                <a:path w="1460500" h="1435100">
                  <a:moveTo>
                    <a:pt x="0" y="0"/>
                  </a:moveTo>
                  <a:lnTo>
                    <a:pt x="1460500" y="0"/>
                  </a:lnTo>
                  <a:lnTo>
                    <a:pt x="1460500" y="1435100"/>
                  </a:lnTo>
                  <a:lnTo>
                    <a:pt x="0" y="1435100"/>
                  </a:lnTo>
                  <a:close/>
                </a:path>
              </a:pathLst>
            </a:custGeom>
            <a:blipFill>
              <a:blip r:embed="rId21"/>
              <a:stretch>
                <a:fillRect/>
              </a:stretch>
            </a:blipFill>
          </p:spPr>
        </p:sp>
      </p:grpSp>
      <p:sp>
        <p:nvSpPr>
          <p:cNvPr id="47" name="TextBox 47"/>
          <p:cNvSpPr txBox="1"/>
          <p:nvPr/>
        </p:nvSpPr>
        <p:spPr>
          <a:xfrm>
            <a:off x="11102860" y="2422094"/>
            <a:ext cx="278876" cy="63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85"/>
              </a:lnSpc>
            </a:pPr>
            <a:r>
              <a:rPr lang="en-US" sz="4585" b="1" spc="-91">
                <a:solidFill>
                  <a:srgbClr val="F2F0E7"/>
                </a:solidFill>
                <a:latin typeface="Open Sans Hebrew Condensed Ultra-Bold"/>
                <a:ea typeface="Open Sans Hebrew Condensed Ultra-Bold"/>
                <a:cs typeface="Open Sans Hebrew Condensed Ultra-Bold"/>
                <a:sym typeface="Open Sans Hebrew Condensed Ultra-Bold"/>
              </a:rPr>
              <a:t>3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10229850" y="3000375"/>
            <a:ext cx="2181225" cy="2362200"/>
            <a:chOff x="0" y="0"/>
            <a:chExt cx="2908300" cy="31496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908300" cy="3149600"/>
            </a:xfrm>
            <a:custGeom>
              <a:avLst/>
              <a:gdLst/>
              <a:ahLst/>
              <a:cxnLst/>
              <a:rect l="l" t="t" r="r" b="b"/>
              <a:pathLst>
                <a:path w="2908300" h="3149600">
                  <a:moveTo>
                    <a:pt x="0" y="0"/>
                  </a:moveTo>
                  <a:lnTo>
                    <a:pt x="2908300" y="0"/>
                  </a:lnTo>
                  <a:lnTo>
                    <a:pt x="2908300" y="3149600"/>
                  </a:lnTo>
                  <a:lnTo>
                    <a:pt x="0" y="3149600"/>
                  </a:lnTo>
                  <a:close/>
                </a:path>
              </a:pathLst>
            </a:custGeom>
            <a:blipFill>
              <a:blip r:embed="rId22"/>
              <a:stretch>
                <a:fillRect/>
              </a:stretch>
            </a:blipFill>
          </p:spPr>
        </p:sp>
      </p:grpSp>
      <p:grpSp>
        <p:nvGrpSpPr>
          <p:cNvPr id="50" name="Group 50"/>
          <p:cNvGrpSpPr/>
          <p:nvPr/>
        </p:nvGrpSpPr>
        <p:grpSpPr>
          <a:xfrm>
            <a:off x="10448925" y="3429000"/>
            <a:ext cx="1743075" cy="1504950"/>
            <a:chOff x="0" y="0"/>
            <a:chExt cx="2324100" cy="20066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324100" cy="2006600"/>
            </a:xfrm>
            <a:custGeom>
              <a:avLst/>
              <a:gdLst/>
              <a:ahLst/>
              <a:cxnLst/>
              <a:rect l="l" t="t" r="r" b="b"/>
              <a:pathLst>
                <a:path w="2324100" h="2006600">
                  <a:moveTo>
                    <a:pt x="0" y="0"/>
                  </a:moveTo>
                  <a:lnTo>
                    <a:pt x="2324100" y="0"/>
                  </a:lnTo>
                  <a:lnTo>
                    <a:pt x="2324100" y="2006600"/>
                  </a:lnTo>
                  <a:lnTo>
                    <a:pt x="0" y="2006600"/>
                  </a:lnTo>
                  <a:close/>
                </a:path>
              </a:pathLst>
            </a:custGeom>
            <a:blipFill>
              <a:blip r:embed="rId23"/>
              <a:stretch>
                <a:fillRect/>
              </a:stretch>
            </a:blipFill>
          </p:spPr>
        </p:sp>
      </p:grpSp>
      <p:sp>
        <p:nvSpPr>
          <p:cNvPr id="52" name="TextBox 52"/>
          <p:cNvSpPr txBox="1"/>
          <p:nvPr/>
        </p:nvSpPr>
        <p:spPr>
          <a:xfrm>
            <a:off x="10641756" y="5379609"/>
            <a:ext cx="1219300" cy="514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5"/>
              </a:lnSpc>
            </a:pPr>
            <a:r>
              <a:rPr lang="en-US" sz="3755" b="1" spc="-75">
                <a:solidFill>
                  <a:srgbClr val="F67D33"/>
                </a:solidFill>
                <a:latin typeface="Open Sans Hebrew Condensed Ultra-Bold"/>
                <a:ea typeface="Open Sans Hebrew Condensed Ultra-Bold"/>
                <a:cs typeface="Open Sans Hebrew Condensed Ultra-Bold"/>
                <a:sym typeface="Open Sans Hebrew Condensed Ultra-Bold"/>
              </a:rPr>
              <a:t>CLAIM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267463" y="5952195"/>
            <a:ext cx="1967886" cy="780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0"/>
              </a:lnSpc>
            </a:pPr>
            <a:r>
              <a:rPr lang="en-US" sz="2575" spc="-51">
                <a:solidFill>
                  <a:srgbClr val="194037"/>
                </a:solidFill>
                <a:latin typeface="Open Sans Hebrew Condensed"/>
                <a:ea typeface="Open Sans Hebrew Condensed"/>
                <a:cs typeface="Open Sans Hebrew Condensed"/>
                <a:sym typeface="Open Sans Hebrew Condensed"/>
              </a:rPr>
              <a:t>Recipients reserve suitable listings.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12620625" y="3638550"/>
            <a:ext cx="1752600" cy="1076325"/>
            <a:chOff x="0" y="0"/>
            <a:chExt cx="2336800" cy="14351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2336800" cy="1435100"/>
            </a:xfrm>
            <a:custGeom>
              <a:avLst/>
              <a:gdLst/>
              <a:ahLst/>
              <a:cxnLst/>
              <a:rect l="l" t="t" r="r" b="b"/>
              <a:pathLst>
                <a:path w="2336800" h="1435100">
                  <a:moveTo>
                    <a:pt x="0" y="0"/>
                  </a:moveTo>
                  <a:lnTo>
                    <a:pt x="2336800" y="0"/>
                  </a:lnTo>
                  <a:lnTo>
                    <a:pt x="2336800" y="1435100"/>
                  </a:lnTo>
                  <a:lnTo>
                    <a:pt x="0" y="1435100"/>
                  </a:lnTo>
                  <a:close/>
                </a:path>
              </a:pathLst>
            </a:custGeom>
            <a:blipFill>
              <a:blip r:embed="rId24"/>
              <a:stretch>
                <a:fillRect/>
              </a:stretch>
            </a:blipFill>
          </p:spPr>
        </p:sp>
      </p:grpSp>
      <p:grpSp>
        <p:nvGrpSpPr>
          <p:cNvPr id="56" name="Group 56"/>
          <p:cNvGrpSpPr/>
          <p:nvPr/>
        </p:nvGrpSpPr>
        <p:grpSpPr>
          <a:xfrm>
            <a:off x="13058775" y="3857625"/>
            <a:ext cx="657225" cy="647700"/>
            <a:chOff x="0" y="0"/>
            <a:chExt cx="876300" cy="8636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876300" cy="863600"/>
            </a:xfrm>
            <a:custGeom>
              <a:avLst/>
              <a:gdLst/>
              <a:ahLst/>
              <a:cxnLst/>
              <a:rect l="l" t="t" r="r" b="b"/>
              <a:pathLst>
                <a:path w="876300" h="863600">
                  <a:moveTo>
                    <a:pt x="0" y="0"/>
                  </a:moveTo>
                  <a:lnTo>
                    <a:pt x="876300" y="0"/>
                  </a:lnTo>
                  <a:lnTo>
                    <a:pt x="876300" y="863600"/>
                  </a:lnTo>
                  <a:lnTo>
                    <a:pt x="0" y="863600"/>
                  </a:lnTo>
                  <a:close/>
                </a:path>
              </a:pathLst>
            </a:custGeom>
            <a:blipFill>
              <a:blip r:embed="rId25"/>
              <a:stretch>
                <a:fillRect/>
              </a:stretch>
            </a:blipFill>
          </p:spPr>
        </p:sp>
      </p:grpSp>
      <p:grpSp>
        <p:nvGrpSpPr>
          <p:cNvPr id="58" name="Group 58"/>
          <p:cNvGrpSpPr/>
          <p:nvPr/>
        </p:nvGrpSpPr>
        <p:grpSpPr>
          <a:xfrm>
            <a:off x="13716000" y="2571750"/>
            <a:ext cx="3924300" cy="4714875"/>
            <a:chOff x="0" y="0"/>
            <a:chExt cx="5232400" cy="62865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5232400" cy="6286500"/>
            </a:xfrm>
            <a:custGeom>
              <a:avLst/>
              <a:gdLst/>
              <a:ahLst/>
              <a:cxnLst/>
              <a:rect l="l" t="t" r="r" b="b"/>
              <a:pathLst>
                <a:path w="5232400" h="6286500">
                  <a:moveTo>
                    <a:pt x="0" y="0"/>
                  </a:moveTo>
                  <a:lnTo>
                    <a:pt x="5232400" y="0"/>
                  </a:lnTo>
                  <a:lnTo>
                    <a:pt x="5232400" y="6286500"/>
                  </a:lnTo>
                  <a:lnTo>
                    <a:pt x="0" y="6286500"/>
                  </a:lnTo>
                  <a:close/>
                </a:path>
              </a:pathLst>
            </a:custGeom>
            <a:blipFill>
              <a:blip r:embed="rId26"/>
              <a:stretch>
                <a:fillRect/>
              </a:stretch>
            </a:blipFill>
          </p:spPr>
        </p:sp>
      </p:grpSp>
      <p:grpSp>
        <p:nvGrpSpPr>
          <p:cNvPr id="60" name="Group 60"/>
          <p:cNvGrpSpPr/>
          <p:nvPr/>
        </p:nvGrpSpPr>
        <p:grpSpPr>
          <a:xfrm>
            <a:off x="15020925" y="2143125"/>
            <a:ext cx="1095375" cy="1076325"/>
            <a:chOff x="0" y="0"/>
            <a:chExt cx="1460500" cy="14351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460500" cy="1435100"/>
            </a:xfrm>
            <a:custGeom>
              <a:avLst/>
              <a:gdLst/>
              <a:ahLst/>
              <a:cxnLst/>
              <a:rect l="l" t="t" r="r" b="b"/>
              <a:pathLst>
                <a:path w="1460500" h="1435100">
                  <a:moveTo>
                    <a:pt x="0" y="0"/>
                  </a:moveTo>
                  <a:lnTo>
                    <a:pt x="1460500" y="0"/>
                  </a:lnTo>
                  <a:lnTo>
                    <a:pt x="1460500" y="1435100"/>
                  </a:lnTo>
                  <a:lnTo>
                    <a:pt x="0" y="1435100"/>
                  </a:lnTo>
                  <a:close/>
                </a:path>
              </a:pathLst>
            </a:custGeom>
            <a:blipFill>
              <a:blip r:embed="rId27"/>
              <a:stretch>
                <a:fillRect/>
              </a:stretch>
            </a:blipFill>
          </p:spPr>
        </p:sp>
      </p:grpSp>
      <p:grpSp>
        <p:nvGrpSpPr>
          <p:cNvPr id="62" name="Group 62"/>
          <p:cNvGrpSpPr/>
          <p:nvPr/>
        </p:nvGrpSpPr>
        <p:grpSpPr>
          <a:xfrm>
            <a:off x="14363700" y="3000375"/>
            <a:ext cx="2400300" cy="2362200"/>
            <a:chOff x="0" y="0"/>
            <a:chExt cx="3200400" cy="314960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3200400" cy="3149600"/>
            </a:xfrm>
            <a:custGeom>
              <a:avLst/>
              <a:gdLst/>
              <a:ahLst/>
              <a:cxnLst/>
              <a:rect l="l" t="t" r="r" b="b"/>
              <a:pathLst>
                <a:path w="3200400" h="3149600">
                  <a:moveTo>
                    <a:pt x="0" y="0"/>
                  </a:moveTo>
                  <a:lnTo>
                    <a:pt x="3200400" y="0"/>
                  </a:lnTo>
                  <a:lnTo>
                    <a:pt x="3200400" y="3149600"/>
                  </a:lnTo>
                  <a:lnTo>
                    <a:pt x="0" y="3149600"/>
                  </a:lnTo>
                  <a:close/>
                </a:path>
              </a:pathLst>
            </a:custGeom>
            <a:blipFill>
              <a:blip r:embed="rId28"/>
              <a:stretch>
                <a:fillRect/>
              </a:stretch>
            </a:blipFill>
          </p:spPr>
        </p:sp>
      </p:grpSp>
      <p:grpSp>
        <p:nvGrpSpPr>
          <p:cNvPr id="64" name="Group 64"/>
          <p:cNvGrpSpPr/>
          <p:nvPr/>
        </p:nvGrpSpPr>
        <p:grpSpPr>
          <a:xfrm>
            <a:off x="14801850" y="3429000"/>
            <a:ext cx="1533525" cy="1504950"/>
            <a:chOff x="0" y="0"/>
            <a:chExt cx="2044700" cy="20066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2044700" cy="2006600"/>
            </a:xfrm>
            <a:custGeom>
              <a:avLst/>
              <a:gdLst/>
              <a:ahLst/>
              <a:cxnLst/>
              <a:rect l="l" t="t" r="r" b="b"/>
              <a:pathLst>
                <a:path w="2044700" h="2006600">
                  <a:moveTo>
                    <a:pt x="0" y="0"/>
                  </a:moveTo>
                  <a:lnTo>
                    <a:pt x="2044700" y="0"/>
                  </a:lnTo>
                  <a:lnTo>
                    <a:pt x="2044700" y="2006600"/>
                  </a:lnTo>
                  <a:lnTo>
                    <a:pt x="0" y="2006600"/>
                  </a:lnTo>
                  <a:close/>
                </a:path>
              </a:pathLst>
            </a:custGeom>
            <a:blipFill>
              <a:blip r:embed="rId29"/>
              <a:stretch>
                <a:fillRect/>
              </a:stretch>
            </a:blipFill>
          </p:spPr>
        </p:sp>
      </p:grpSp>
      <p:sp>
        <p:nvSpPr>
          <p:cNvPr id="66" name="TextBox 66"/>
          <p:cNvSpPr txBox="1"/>
          <p:nvPr/>
        </p:nvSpPr>
        <p:spPr>
          <a:xfrm>
            <a:off x="13934649" y="5379609"/>
            <a:ext cx="3293883" cy="514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5"/>
              </a:lnSpc>
            </a:pPr>
            <a:r>
              <a:rPr lang="en-US" sz="3755" b="1" spc="-75">
                <a:solidFill>
                  <a:srgbClr val="FDB37B"/>
                </a:solidFill>
                <a:latin typeface="Open Sans Hebrew Condensed Ultra-Bold"/>
                <a:ea typeface="Open Sans Hebrew Condensed Ultra-Bold"/>
                <a:cs typeface="Open Sans Hebrew Condensed Ultra-Bold"/>
                <a:sym typeface="Open Sans Hebrew Condensed Ultra-Bold"/>
              </a:rPr>
              <a:t>COLLECT &amp; SHARE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4209090" y="5961720"/>
            <a:ext cx="2755717" cy="1104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2"/>
              </a:lnSpc>
            </a:pPr>
            <a:r>
              <a:rPr lang="en-US" sz="2443" spc="-48">
                <a:solidFill>
                  <a:srgbClr val="194037"/>
                </a:solidFill>
                <a:latin typeface="Open Sans Hebrew Condensed"/>
                <a:ea typeface="Open Sans Hebrew Condensed"/>
                <a:cs typeface="Open Sans Hebrew Condensed"/>
                <a:sym typeface="Open Sans Hebrew Condensed"/>
              </a:rPr>
              <a:t>Recipients pick up and redirect food to those who need it.</a:t>
            </a:r>
          </a:p>
        </p:txBody>
      </p:sp>
      <p:grpSp>
        <p:nvGrpSpPr>
          <p:cNvPr id="68" name="Group 68"/>
          <p:cNvGrpSpPr/>
          <p:nvPr/>
        </p:nvGrpSpPr>
        <p:grpSpPr>
          <a:xfrm>
            <a:off x="14582775" y="7715250"/>
            <a:ext cx="1971675" cy="1285875"/>
            <a:chOff x="0" y="0"/>
            <a:chExt cx="2628900" cy="171450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2628900" cy="1714500"/>
            </a:xfrm>
            <a:custGeom>
              <a:avLst/>
              <a:gdLst/>
              <a:ahLst/>
              <a:cxnLst/>
              <a:rect l="l" t="t" r="r" b="b"/>
              <a:pathLst>
                <a:path w="2628900" h="1714500">
                  <a:moveTo>
                    <a:pt x="0" y="0"/>
                  </a:moveTo>
                  <a:lnTo>
                    <a:pt x="2628900" y="0"/>
                  </a:lnTo>
                  <a:lnTo>
                    <a:pt x="2628900" y="1714500"/>
                  </a:lnTo>
                  <a:lnTo>
                    <a:pt x="0" y="1714500"/>
                  </a:lnTo>
                  <a:close/>
                </a:path>
              </a:pathLst>
            </a:custGeom>
            <a:blipFill>
              <a:blip r:embed="rId30"/>
              <a:stretch>
                <a:fillRect/>
              </a:stretch>
            </a:blipFill>
          </p:spPr>
        </p:sp>
      </p:grpSp>
      <p:grpSp>
        <p:nvGrpSpPr>
          <p:cNvPr id="70" name="Group 70"/>
          <p:cNvGrpSpPr/>
          <p:nvPr/>
        </p:nvGrpSpPr>
        <p:grpSpPr>
          <a:xfrm>
            <a:off x="1733550" y="7924800"/>
            <a:ext cx="1971675" cy="1076325"/>
            <a:chOff x="0" y="0"/>
            <a:chExt cx="2628900" cy="143510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2628900" cy="1435100"/>
            </a:xfrm>
            <a:custGeom>
              <a:avLst/>
              <a:gdLst/>
              <a:ahLst/>
              <a:cxnLst/>
              <a:rect l="l" t="t" r="r" b="b"/>
              <a:pathLst>
                <a:path w="2628900" h="1435100">
                  <a:moveTo>
                    <a:pt x="0" y="0"/>
                  </a:moveTo>
                  <a:lnTo>
                    <a:pt x="2628900" y="0"/>
                  </a:lnTo>
                  <a:lnTo>
                    <a:pt x="2628900" y="1435100"/>
                  </a:lnTo>
                  <a:lnTo>
                    <a:pt x="0" y="1435100"/>
                  </a:lnTo>
                  <a:close/>
                </a:path>
              </a:pathLst>
            </a:custGeom>
            <a:blipFill>
              <a:blip r:embed="rId31"/>
              <a:stretch>
                <a:fillRect/>
              </a:stretch>
            </a:blipFill>
          </p:spPr>
        </p:sp>
      </p:grpSp>
      <p:sp>
        <p:nvSpPr>
          <p:cNvPr id="72" name="TextBox 72"/>
          <p:cNvSpPr txBox="1"/>
          <p:nvPr/>
        </p:nvSpPr>
        <p:spPr>
          <a:xfrm>
            <a:off x="3161473" y="8434096"/>
            <a:ext cx="11697521" cy="574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58"/>
              </a:lnSpc>
            </a:pPr>
            <a:r>
              <a:rPr lang="en-US" sz="4258" b="1" spc="-85">
                <a:solidFill>
                  <a:srgbClr val="F67D33"/>
                </a:solidFill>
                <a:latin typeface="Open Sans Hebrew Condensed Ultra-Bold"/>
                <a:ea typeface="Open Sans Hebrew Condensed Ultra-Bold"/>
                <a:cs typeface="Open Sans Hebrew Condensed Ultra-Bold"/>
                <a:sym typeface="Open Sans Hebrew Condensed Ultra-Bold"/>
              </a:rPr>
              <a:t>LESS </a:t>
            </a:r>
            <a:r>
              <a:rPr lang="en-US" sz="4258" b="1" spc="-85">
                <a:solidFill>
                  <a:srgbClr val="F2F0E7"/>
                </a:solidFill>
                <a:latin typeface="Open Sans Hebrew Condensed Ultra-Bold"/>
                <a:ea typeface="Open Sans Hebrew Condensed Ultra-Bold"/>
                <a:cs typeface="Open Sans Hebrew Condensed Ultra-Bold"/>
                <a:sym typeface="Open Sans Hebrew Condensed Ultra-Bold"/>
              </a:rPr>
              <a:t>FOOD WASTE AND </a:t>
            </a:r>
            <a:r>
              <a:rPr lang="en-US" sz="4258" b="1" spc="-85">
                <a:solidFill>
                  <a:srgbClr val="F67D33"/>
                </a:solidFill>
                <a:latin typeface="Open Sans Hebrew Condensed Ultra-Bold"/>
                <a:ea typeface="Open Sans Hebrew Condensed Ultra-Bold"/>
                <a:cs typeface="Open Sans Hebrew Condensed Ultra-Bold"/>
                <a:sym typeface="Open Sans Hebrew Condensed Ultra-Bold"/>
              </a:rPr>
              <a:t>MORE </a:t>
            </a:r>
            <a:r>
              <a:rPr lang="en-US" sz="4258" b="1" spc="-85">
                <a:solidFill>
                  <a:srgbClr val="F2F0E7"/>
                </a:solidFill>
                <a:latin typeface="Open Sans Hebrew Condensed Ultra-Bold"/>
                <a:ea typeface="Open Sans Hebrew Condensed Ultra-Bold"/>
                <a:cs typeface="Open Sans Hebrew Condensed Ultra-Bold"/>
                <a:sym typeface="Open Sans Hebrew Condensed Ultra-Bold"/>
              </a:rPr>
              <a:t>COMMUNITY SUPPORT.</a:t>
            </a:r>
          </a:p>
        </p:txBody>
      </p:sp>
      <p:grpSp>
        <p:nvGrpSpPr>
          <p:cNvPr id="73" name="Group 73"/>
          <p:cNvGrpSpPr/>
          <p:nvPr/>
        </p:nvGrpSpPr>
        <p:grpSpPr>
          <a:xfrm>
            <a:off x="0" y="8782050"/>
            <a:ext cx="1962150" cy="1504950"/>
            <a:chOff x="0" y="0"/>
            <a:chExt cx="2616200" cy="200660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2616200" cy="2006600"/>
            </a:xfrm>
            <a:custGeom>
              <a:avLst/>
              <a:gdLst/>
              <a:ahLst/>
              <a:cxnLst/>
              <a:rect l="l" t="t" r="r" b="b"/>
              <a:pathLst>
                <a:path w="2616200" h="2006600">
                  <a:moveTo>
                    <a:pt x="0" y="0"/>
                  </a:moveTo>
                  <a:lnTo>
                    <a:pt x="2616200" y="0"/>
                  </a:lnTo>
                  <a:lnTo>
                    <a:pt x="2616200" y="2006600"/>
                  </a:lnTo>
                  <a:lnTo>
                    <a:pt x="0" y="2006600"/>
                  </a:lnTo>
                  <a:close/>
                </a:path>
              </a:pathLst>
            </a:custGeom>
            <a:blipFill>
              <a:blip r:embed="rId32"/>
              <a:stretch>
                <a:fillRect/>
              </a:stretch>
            </a:blipFill>
          </p:spPr>
        </p:sp>
      </p:grpSp>
      <p:grpSp>
        <p:nvGrpSpPr>
          <p:cNvPr id="75" name="Group 75"/>
          <p:cNvGrpSpPr/>
          <p:nvPr/>
        </p:nvGrpSpPr>
        <p:grpSpPr>
          <a:xfrm>
            <a:off x="16544925" y="9210675"/>
            <a:ext cx="1743075" cy="1076325"/>
            <a:chOff x="0" y="0"/>
            <a:chExt cx="2324100" cy="143510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2324100" cy="1435100"/>
            </a:xfrm>
            <a:custGeom>
              <a:avLst/>
              <a:gdLst/>
              <a:ahLst/>
              <a:cxnLst/>
              <a:rect l="l" t="t" r="r" b="b"/>
              <a:pathLst>
                <a:path w="2324100" h="1435100">
                  <a:moveTo>
                    <a:pt x="0" y="0"/>
                  </a:moveTo>
                  <a:lnTo>
                    <a:pt x="2324100" y="0"/>
                  </a:lnTo>
                  <a:lnTo>
                    <a:pt x="2324100" y="1435100"/>
                  </a:lnTo>
                  <a:lnTo>
                    <a:pt x="0" y="1435100"/>
                  </a:lnTo>
                  <a:close/>
                </a:path>
              </a:pathLst>
            </a:custGeom>
            <a:blipFill>
              <a:blip r:embed="rId33"/>
              <a:stretch>
                <a:fillRect/>
              </a:stretch>
            </a:blipFill>
          </p:spPr>
        </p:sp>
      </p:grpSp>
      <p:sp>
        <p:nvSpPr>
          <p:cNvPr id="77" name="TextBox 77"/>
          <p:cNvSpPr txBox="1"/>
          <p:nvPr/>
        </p:nvSpPr>
        <p:spPr>
          <a:xfrm>
            <a:off x="15442688" y="2422094"/>
            <a:ext cx="278876" cy="63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85"/>
              </a:lnSpc>
            </a:pPr>
            <a:r>
              <a:rPr lang="en-US" sz="4585" b="1" spc="-91">
                <a:solidFill>
                  <a:srgbClr val="F2F0E7"/>
                </a:solidFill>
                <a:latin typeface="Open Sans Hebrew Condensed Ultra-Bold"/>
                <a:ea typeface="Open Sans Hebrew Condensed Ultra-Bold"/>
                <a:cs typeface="Open Sans Hebrew Condensed Ultra-Bold"/>
                <a:sym typeface="Open Sans Hebrew Condensed Ultra-Bold"/>
              </a:rPr>
              <a:t>4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6870188" y="2422094"/>
            <a:ext cx="278876" cy="63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85"/>
              </a:lnSpc>
            </a:pPr>
            <a:r>
              <a:rPr lang="en-US" sz="4585" b="1" spc="-91">
                <a:solidFill>
                  <a:srgbClr val="F2F0E7"/>
                </a:solidFill>
                <a:latin typeface="Open Sans Hebrew Condensed Ultra-Bold"/>
                <a:ea typeface="Open Sans Hebrew Condensed Ultra-Bold"/>
                <a:cs typeface="Open Sans Hebrew Condensed Ultra-Bold"/>
                <a:sym typeface="Open Sans Hebrew Condensed Ultra-Bold"/>
              </a:rPr>
              <a:t>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3287375" cy="3648075"/>
            <a:chOff x="0" y="0"/>
            <a:chExt cx="17716500" cy="48641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716500" cy="4864100"/>
            </a:xfrm>
            <a:custGeom>
              <a:avLst/>
              <a:gdLst/>
              <a:ahLst/>
              <a:cxnLst/>
              <a:rect l="l" t="t" r="r" b="b"/>
              <a:pathLst>
                <a:path w="17716500" h="4864100">
                  <a:moveTo>
                    <a:pt x="0" y="0"/>
                  </a:moveTo>
                  <a:lnTo>
                    <a:pt x="17716500" y="0"/>
                  </a:lnTo>
                  <a:lnTo>
                    <a:pt x="17716500" y="4864100"/>
                  </a:lnTo>
                  <a:lnTo>
                    <a:pt x="0" y="486410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3925550" y="0"/>
            <a:ext cx="4362450" cy="3648075"/>
            <a:chOff x="0" y="0"/>
            <a:chExt cx="5816600" cy="48641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816600" cy="4864100"/>
            </a:xfrm>
            <a:custGeom>
              <a:avLst/>
              <a:gdLst/>
              <a:ahLst/>
              <a:cxnLst/>
              <a:rect l="l" t="t" r="r" b="b"/>
              <a:pathLst>
                <a:path w="5816600" h="4864100">
                  <a:moveTo>
                    <a:pt x="0" y="0"/>
                  </a:moveTo>
                  <a:lnTo>
                    <a:pt x="5816600" y="0"/>
                  </a:lnTo>
                  <a:lnTo>
                    <a:pt x="5816600" y="4864100"/>
                  </a:lnTo>
                  <a:lnTo>
                    <a:pt x="0" y="48641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6962775" y="857250"/>
            <a:ext cx="4143375" cy="2362200"/>
            <a:chOff x="0" y="0"/>
            <a:chExt cx="5524500" cy="3149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524500" cy="3149600"/>
            </a:xfrm>
            <a:custGeom>
              <a:avLst/>
              <a:gdLst/>
              <a:ahLst/>
              <a:cxnLst/>
              <a:rect l="l" t="t" r="r" b="b"/>
              <a:pathLst>
                <a:path w="5524500" h="3149600">
                  <a:moveTo>
                    <a:pt x="0" y="0"/>
                  </a:moveTo>
                  <a:lnTo>
                    <a:pt x="5524500" y="0"/>
                  </a:lnTo>
                  <a:lnTo>
                    <a:pt x="5524500" y="3149600"/>
                  </a:lnTo>
                  <a:lnTo>
                    <a:pt x="0" y="314960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557200" y="479805"/>
            <a:ext cx="3215968" cy="1705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51"/>
              </a:lnSpc>
            </a:pPr>
            <a:r>
              <a:rPr lang="en-US" sz="12751" b="1" spc="-255">
                <a:solidFill>
                  <a:srgbClr val="F6F1E7"/>
                </a:solidFill>
                <a:latin typeface="Roboto Bold"/>
                <a:ea typeface="Roboto Bold"/>
                <a:cs typeface="Roboto Bold"/>
                <a:sym typeface="Roboto Bold"/>
              </a:rPr>
              <a:t>Who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83330" y="1820933"/>
            <a:ext cx="5960705" cy="1705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51"/>
              </a:lnSpc>
            </a:pPr>
            <a:r>
              <a:rPr lang="en-US" sz="12751" b="1" spc="-255">
                <a:solidFill>
                  <a:srgbClr val="F29C3A"/>
                </a:solidFill>
                <a:latin typeface="Roboto Bold"/>
                <a:ea typeface="Roboto Bold"/>
                <a:cs typeface="Roboto Bold"/>
                <a:sym typeface="Roboto Bold"/>
              </a:rPr>
              <a:t>Benefits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28625" y="3638550"/>
            <a:ext cx="3276600" cy="5153025"/>
            <a:chOff x="0" y="0"/>
            <a:chExt cx="4368800" cy="68707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368800" cy="6870700"/>
            </a:xfrm>
            <a:custGeom>
              <a:avLst/>
              <a:gdLst/>
              <a:ahLst/>
              <a:cxnLst/>
              <a:rect l="l" t="t" r="r" b="b"/>
              <a:pathLst>
                <a:path w="4368800" h="6870700">
                  <a:moveTo>
                    <a:pt x="0" y="0"/>
                  </a:moveTo>
                  <a:lnTo>
                    <a:pt x="4368800" y="0"/>
                  </a:lnTo>
                  <a:lnTo>
                    <a:pt x="4368800" y="6870700"/>
                  </a:lnTo>
                  <a:lnTo>
                    <a:pt x="0" y="687070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647700" y="3857625"/>
            <a:ext cx="1095375" cy="1076325"/>
            <a:chOff x="0" y="0"/>
            <a:chExt cx="1460500" cy="14351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60500" cy="1435100"/>
            </a:xfrm>
            <a:custGeom>
              <a:avLst/>
              <a:gdLst/>
              <a:ahLst/>
              <a:cxnLst/>
              <a:rect l="l" t="t" r="r" b="b"/>
              <a:pathLst>
                <a:path w="1460500" h="1435100">
                  <a:moveTo>
                    <a:pt x="0" y="0"/>
                  </a:moveTo>
                  <a:lnTo>
                    <a:pt x="1460500" y="0"/>
                  </a:lnTo>
                  <a:lnTo>
                    <a:pt x="1460500" y="1435100"/>
                  </a:lnTo>
                  <a:lnTo>
                    <a:pt x="0" y="143510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866775" y="4067175"/>
            <a:ext cx="657225" cy="647700"/>
            <a:chOff x="0" y="0"/>
            <a:chExt cx="876300" cy="8636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76300" cy="863600"/>
            </a:xfrm>
            <a:custGeom>
              <a:avLst/>
              <a:gdLst/>
              <a:ahLst/>
              <a:cxnLst/>
              <a:rect l="l" t="t" r="r" b="b"/>
              <a:pathLst>
                <a:path w="876300" h="863600">
                  <a:moveTo>
                    <a:pt x="0" y="0"/>
                  </a:moveTo>
                  <a:lnTo>
                    <a:pt x="876300" y="0"/>
                  </a:lnTo>
                  <a:lnTo>
                    <a:pt x="876300" y="863600"/>
                  </a:lnTo>
                  <a:lnTo>
                    <a:pt x="0" y="86360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1757809" y="4223455"/>
            <a:ext cx="1026912" cy="365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8"/>
              </a:lnSpc>
            </a:pPr>
            <a:r>
              <a:rPr lang="en-US" sz="2526" b="1" spc="-50">
                <a:solidFill>
                  <a:srgbClr val="F6F1E7"/>
                </a:solidFill>
                <a:latin typeface="Roboto Bold"/>
                <a:ea typeface="Roboto Bold"/>
                <a:cs typeface="Roboto Bold"/>
                <a:sym typeface="Roboto Bold"/>
              </a:rPr>
              <a:t>Donors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647700" y="5143500"/>
            <a:ext cx="876300" cy="857250"/>
            <a:chOff x="0" y="0"/>
            <a:chExt cx="1168400" cy="1143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68400" cy="1143000"/>
            </a:xfrm>
            <a:custGeom>
              <a:avLst/>
              <a:gdLst/>
              <a:ahLst/>
              <a:cxnLst/>
              <a:rect l="l" t="t" r="r" b="b"/>
              <a:pathLst>
                <a:path w="1168400" h="1143000">
                  <a:moveTo>
                    <a:pt x="0" y="0"/>
                  </a:moveTo>
                  <a:lnTo>
                    <a:pt x="1168400" y="0"/>
                  </a:lnTo>
                  <a:lnTo>
                    <a:pt x="1168400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866775" y="5143500"/>
            <a:ext cx="447675" cy="647700"/>
            <a:chOff x="0" y="0"/>
            <a:chExt cx="596900" cy="8636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96900" cy="863600"/>
            </a:xfrm>
            <a:custGeom>
              <a:avLst/>
              <a:gdLst/>
              <a:ahLst/>
              <a:cxnLst/>
              <a:rect l="l" t="t" r="r" b="b"/>
              <a:pathLst>
                <a:path w="596900" h="863600">
                  <a:moveTo>
                    <a:pt x="0" y="0"/>
                  </a:moveTo>
                  <a:lnTo>
                    <a:pt x="596900" y="0"/>
                  </a:lnTo>
                  <a:lnTo>
                    <a:pt x="596900" y="863600"/>
                  </a:lnTo>
                  <a:lnTo>
                    <a:pt x="0" y="86360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sp>
        <p:nvSpPr>
          <p:cNvPr id="24" name="TextBox 24"/>
          <p:cNvSpPr txBox="1"/>
          <p:nvPr/>
        </p:nvSpPr>
        <p:spPr>
          <a:xfrm>
            <a:off x="1619557" y="5393279"/>
            <a:ext cx="1457567" cy="335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399" b="1" spc="-48">
                <a:solidFill>
                  <a:srgbClr val="3D4243"/>
                </a:solidFill>
                <a:latin typeface="Open Sans Condensed Medium"/>
                <a:ea typeface="Open Sans Condensed Medium"/>
                <a:cs typeface="Open Sans Condensed Medium"/>
                <a:sym typeface="Open Sans Condensed Medium"/>
              </a:rPr>
              <a:t>Reduce waste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47700" y="6210300"/>
            <a:ext cx="876300" cy="866775"/>
            <a:chOff x="0" y="0"/>
            <a:chExt cx="1168400" cy="11557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68400" cy="1155700"/>
            </a:xfrm>
            <a:custGeom>
              <a:avLst/>
              <a:gdLst/>
              <a:ahLst/>
              <a:cxnLst/>
              <a:rect l="l" t="t" r="r" b="b"/>
              <a:pathLst>
                <a:path w="1168400" h="1155700">
                  <a:moveTo>
                    <a:pt x="0" y="0"/>
                  </a:moveTo>
                  <a:lnTo>
                    <a:pt x="1168400" y="0"/>
                  </a:lnTo>
                  <a:lnTo>
                    <a:pt x="1168400" y="1155700"/>
                  </a:lnTo>
                  <a:lnTo>
                    <a:pt x="0" y="115570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grpSp>
        <p:nvGrpSpPr>
          <p:cNvPr id="27" name="Group 27"/>
          <p:cNvGrpSpPr/>
          <p:nvPr/>
        </p:nvGrpSpPr>
        <p:grpSpPr>
          <a:xfrm>
            <a:off x="866775" y="6210300"/>
            <a:ext cx="447675" cy="647700"/>
            <a:chOff x="0" y="0"/>
            <a:chExt cx="596900" cy="8636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96900" cy="863600"/>
            </a:xfrm>
            <a:custGeom>
              <a:avLst/>
              <a:gdLst/>
              <a:ahLst/>
              <a:cxnLst/>
              <a:rect l="l" t="t" r="r" b="b"/>
              <a:pathLst>
                <a:path w="596900" h="863600">
                  <a:moveTo>
                    <a:pt x="0" y="0"/>
                  </a:moveTo>
                  <a:lnTo>
                    <a:pt x="596900" y="0"/>
                  </a:lnTo>
                  <a:lnTo>
                    <a:pt x="596900" y="863600"/>
                  </a:lnTo>
                  <a:lnTo>
                    <a:pt x="0" y="86360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</p:grpSp>
      <p:sp>
        <p:nvSpPr>
          <p:cNvPr id="29" name="TextBox 29"/>
          <p:cNvSpPr txBox="1"/>
          <p:nvPr/>
        </p:nvSpPr>
        <p:spPr>
          <a:xfrm>
            <a:off x="1619331" y="6267269"/>
            <a:ext cx="1480178" cy="629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8"/>
              </a:lnSpc>
            </a:pPr>
            <a:r>
              <a:rPr lang="en-US" sz="2271" b="1" spc="-45">
                <a:solidFill>
                  <a:srgbClr val="3D4243"/>
                </a:solidFill>
                <a:latin typeface="Open Sans Condensed Medium"/>
                <a:ea typeface="Open Sans Condensed Medium"/>
                <a:cs typeface="Open Sans Condensed Medium"/>
                <a:sym typeface="Open Sans Condensed Medium"/>
              </a:rPr>
              <a:t>Create positive</a:t>
            </a:r>
          </a:p>
          <a:p>
            <a:pPr algn="l">
              <a:lnSpc>
                <a:spcPts val="2498"/>
              </a:lnSpc>
            </a:pPr>
            <a:r>
              <a:rPr lang="en-US" sz="2271" b="1" spc="-45">
                <a:solidFill>
                  <a:srgbClr val="3D4243"/>
                </a:solidFill>
                <a:latin typeface="Open Sans Condensed Medium"/>
                <a:ea typeface="Open Sans Condensed Medium"/>
                <a:cs typeface="Open Sans Condensed Medium"/>
                <a:sym typeface="Open Sans Condensed Medium"/>
              </a:rPr>
              <a:t>social impact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647700" y="7286625"/>
            <a:ext cx="876300" cy="857250"/>
            <a:chOff x="0" y="0"/>
            <a:chExt cx="1168400" cy="11430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68400" cy="1143000"/>
            </a:xfrm>
            <a:custGeom>
              <a:avLst/>
              <a:gdLst/>
              <a:ahLst/>
              <a:cxnLst/>
              <a:rect l="l" t="t" r="r" b="b"/>
              <a:pathLst>
                <a:path w="1168400" h="1143000">
                  <a:moveTo>
                    <a:pt x="0" y="0"/>
                  </a:moveTo>
                  <a:lnTo>
                    <a:pt x="1168400" y="0"/>
                  </a:lnTo>
                  <a:lnTo>
                    <a:pt x="1168400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</p:sp>
      </p:grpSp>
      <p:grpSp>
        <p:nvGrpSpPr>
          <p:cNvPr id="32" name="Group 32"/>
          <p:cNvGrpSpPr/>
          <p:nvPr/>
        </p:nvGrpSpPr>
        <p:grpSpPr>
          <a:xfrm>
            <a:off x="866775" y="7286625"/>
            <a:ext cx="447675" cy="647700"/>
            <a:chOff x="0" y="0"/>
            <a:chExt cx="596900" cy="8636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96900" cy="863600"/>
            </a:xfrm>
            <a:custGeom>
              <a:avLst/>
              <a:gdLst/>
              <a:ahLst/>
              <a:cxnLst/>
              <a:rect l="l" t="t" r="r" b="b"/>
              <a:pathLst>
                <a:path w="596900" h="863600">
                  <a:moveTo>
                    <a:pt x="0" y="0"/>
                  </a:moveTo>
                  <a:lnTo>
                    <a:pt x="596900" y="0"/>
                  </a:lnTo>
                  <a:lnTo>
                    <a:pt x="596900" y="863600"/>
                  </a:lnTo>
                  <a:lnTo>
                    <a:pt x="0" y="86360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</p:sp>
      </p:grpSp>
      <p:sp>
        <p:nvSpPr>
          <p:cNvPr id="34" name="TextBox 34"/>
          <p:cNvSpPr txBox="1"/>
          <p:nvPr/>
        </p:nvSpPr>
        <p:spPr>
          <a:xfrm>
            <a:off x="1618194" y="7291951"/>
            <a:ext cx="1593870" cy="629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8"/>
              </a:lnSpc>
            </a:pPr>
            <a:r>
              <a:rPr lang="en-US" sz="2271" b="1" spc="-45">
                <a:solidFill>
                  <a:srgbClr val="3D4243"/>
                </a:solidFill>
                <a:latin typeface="Open Sans Condensed Medium"/>
                <a:ea typeface="Open Sans Condensed Medium"/>
                <a:cs typeface="Open Sans Condensed Medium"/>
                <a:sym typeface="Open Sans Condensed Medium"/>
              </a:rPr>
              <a:t>Simplify surplus</a:t>
            </a:r>
          </a:p>
          <a:p>
            <a:pPr algn="l">
              <a:lnSpc>
                <a:spcPts val="2498"/>
              </a:lnSpc>
            </a:pPr>
            <a:r>
              <a:rPr lang="en-US" sz="2271" spc="-45">
                <a:solidFill>
                  <a:srgbClr val="3D4243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distribution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3695700" y="3638550"/>
            <a:ext cx="3495675" cy="5153025"/>
            <a:chOff x="0" y="0"/>
            <a:chExt cx="4660900" cy="68707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660900" cy="6870700"/>
            </a:xfrm>
            <a:custGeom>
              <a:avLst/>
              <a:gdLst/>
              <a:ahLst/>
              <a:cxnLst/>
              <a:rect l="l" t="t" r="r" b="b"/>
              <a:pathLst>
                <a:path w="4660900" h="6870700">
                  <a:moveTo>
                    <a:pt x="0" y="0"/>
                  </a:moveTo>
                  <a:lnTo>
                    <a:pt x="4660900" y="0"/>
                  </a:lnTo>
                  <a:lnTo>
                    <a:pt x="4660900" y="6870700"/>
                  </a:lnTo>
                  <a:lnTo>
                    <a:pt x="0" y="6870700"/>
                  </a:lnTo>
                  <a:close/>
                </a:path>
              </a:pathLst>
            </a:custGeom>
            <a:blipFill>
              <a:blip r:embed="rId16"/>
              <a:stretch>
                <a:fillRect/>
              </a:stretch>
            </a:blipFill>
          </p:spPr>
        </p:sp>
      </p:grpSp>
      <p:grpSp>
        <p:nvGrpSpPr>
          <p:cNvPr id="37" name="Group 37"/>
          <p:cNvGrpSpPr/>
          <p:nvPr/>
        </p:nvGrpSpPr>
        <p:grpSpPr>
          <a:xfrm>
            <a:off x="4133850" y="3857625"/>
            <a:ext cx="876300" cy="1076325"/>
            <a:chOff x="0" y="0"/>
            <a:chExt cx="1168400" cy="14351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168400" cy="1435100"/>
            </a:xfrm>
            <a:custGeom>
              <a:avLst/>
              <a:gdLst/>
              <a:ahLst/>
              <a:cxnLst/>
              <a:rect l="l" t="t" r="r" b="b"/>
              <a:pathLst>
                <a:path w="1168400" h="1435100">
                  <a:moveTo>
                    <a:pt x="0" y="0"/>
                  </a:moveTo>
                  <a:lnTo>
                    <a:pt x="1168400" y="0"/>
                  </a:lnTo>
                  <a:lnTo>
                    <a:pt x="1168400" y="1435100"/>
                  </a:lnTo>
                  <a:lnTo>
                    <a:pt x="0" y="1435100"/>
                  </a:lnTo>
                  <a:close/>
                </a:path>
              </a:pathLst>
            </a:custGeom>
            <a:blipFill>
              <a:blip r:embed="rId17"/>
              <a:stretch>
                <a:fillRect/>
              </a:stretch>
            </a:blipFill>
          </p:spPr>
        </p:sp>
      </p:grpSp>
      <p:grpSp>
        <p:nvGrpSpPr>
          <p:cNvPr id="39" name="Group 39"/>
          <p:cNvGrpSpPr/>
          <p:nvPr/>
        </p:nvGrpSpPr>
        <p:grpSpPr>
          <a:xfrm>
            <a:off x="4133850" y="4067175"/>
            <a:ext cx="876300" cy="647700"/>
            <a:chOff x="0" y="0"/>
            <a:chExt cx="1168400" cy="8636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168400" cy="863600"/>
            </a:xfrm>
            <a:custGeom>
              <a:avLst/>
              <a:gdLst/>
              <a:ahLst/>
              <a:cxnLst/>
              <a:rect l="l" t="t" r="r" b="b"/>
              <a:pathLst>
                <a:path w="1168400" h="863600">
                  <a:moveTo>
                    <a:pt x="0" y="0"/>
                  </a:moveTo>
                  <a:lnTo>
                    <a:pt x="1168400" y="0"/>
                  </a:lnTo>
                  <a:lnTo>
                    <a:pt x="1168400" y="863600"/>
                  </a:lnTo>
                  <a:lnTo>
                    <a:pt x="0" y="863600"/>
                  </a:lnTo>
                  <a:close/>
                </a:path>
              </a:pathLst>
            </a:custGeom>
            <a:blipFill>
              <a:blip r:embed="rId18"/>
              <a:stretch>
                <a:fillRect/>
              </a:stretch>
            </a:blipFill>
          </p:spPr>
        </p:sp>
      </p:grpSp>
      <p:grpSp>
        <p:nvGrpSpPr>
          <p:cNvPr id="41" name="Group 41"/>
          <p:cNvGrpSpPr/>
          <p:nvPr/>
        </p:nvGrpSpPr>
        <p:grpSpPr>
          <a:xfrm>
            <a:off x="4133850" y="5143500"/>
            <a:ext cx="876300" cy="857250"/>
            <a:chOff x="0" y="0"/>
            <a:chExt cx="1168400" cy="11430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168400" cy="1143000"/>
            </a:xfrm>
            <a:custGeom>
              <a:avLst/>
              <a:gdLst/>
              <a:ahLst/>
              <a:cxnLst/>
              <a:rect l="l" t="t" r="r" b="b"/>
              <a:pathLst>
                <a:path w="1168400" h="1143000">
                  <a:moveTo>
                    <a:pt x="0" y="0"/>
                  </a:moveTo>
                  <a:lnTo>
                    <a:pt x="1168400" y="0"/>
                  </a:lnTo>
                  <a:lnTo>
                    <a:pt x="1168400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19"/>
              <a:stretch>
                <a:fillRect/>
              </a:stretch>
            </a:blipFill>
          </p:spPr>
        </p:sp>
      </p:grpSp>
      <p:grpSp>
        <p:nvGrpSpPr>
          <p:cNvPr id="43" name="Group 43"/>
          <p:cNvGrpSpPr/>
          <p:nvPr/>
        </p:nvGrpSpPr>
        <p:grpSpPr>
          <a:xfrm>
            <a:off x="4133850" y="5143500"/>
            <a:ext cx="657225" cy="647700"/>
            <a:chOff x="0" y="0"/>
            <a:chExt cx="876300" cy="8636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76300" cy="863600"/>
            </a:xfrm>
            <a:custGeom>
              <a:avLst/>
              <a:gdLst/>
              <a:ahLst/>
              <a:cxnLst/>
              <a:rect l="l" t="t" r="r" b="b"/>
              <a:pathLst>
                <a:path w="876300" h="863600">
                  <a:moveTo>
                    <a:pt x="0" y="0"/>
                  </a:moveTo>
                  <a:lnTo>
                    <a:pt x="876300" y="0"/>
                  </a:lnTo>
                  <a:lnTo>
                    <a:pt x="876300" y="863600"/>
                  </a:lnTo>
                  <a:lnTo>
                    <a:pt x="0" y="863600"/>
                  </a:lnTo>
                  <a:close/>
                </a:path>
              </a:pathLst>
            </a:custGeom>
            <a:blipFill>
              <a:blip r:embed="rId20"/>
              <a:stretch>
                <a:fillRect/>
              </a:stretch>
            </a:blipFill>
          </p:spPr>
        </p:sp>
      </p:grpSp>
      <p:sp>
        <p:nvSpPr>
          <p:cNvPr id="45" name="TextBox 45"/>
          <p:cNvSpPr txBox="1"/>
          <p:nvPr/>
        </p:nvSpPr>
        <p:spPr>
          <a:xfrm>
            <a:off x="5051532" y="5212450"/>
            <a:ext cx="1160068" cy="629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8"/>
              </a:lnSpc>
            </a:pPr>
            <a:r>
              <a:rPr lang="en-US" sz="2271" b="1" spc="-45">
                <a:solidFill>
                  <a:srgbClr val="3D4243"/>
                </a:solidFill>
                <a:latin typeface="Open Sans Condensed Medium"/>
                <a:ea typeface="Open Sans Condensed Medium"/>
                <a:cs typeface="Open Sans Condensed Medium"/>
                <a:sym typeface="Open Sans Condensed Medium"/>
              </a:rPr>
              <a:t>Access food</a:t>
            </a:r>
          </a:p>
          <a:p>
            <a:pPr algn="l">
              <a:lnSpc>
                <a:spcPts val="2498"/>
              </a:lnSpc>
            </a:pPr>
            <a:r>
              <a:rPr lang="en-US" sz="2271" b="1" spc="-45">
                <a:solidFill>
                  <a:srgbClr val="3D4243"/>
                </a:solidFill>
                <a:latin typeface="Open Sans Condensed Medium"/>
                <a:ea typeface="Open Sans Condensed Medium"/>
                <a:cs typeface="Open Sans Condensed Medium"/>
                <a:sym typeface="Open Sans Condensed Medium"/>
              </a:rPr>
              <a:t>support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4133850" y="6210300"/>
            <a:ext cx="876300" cy="866775"/>
            <a:chOff x="0" y="0"/>
            <a:chExt cx="1168400" cy="11557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168400" cy="1155700"/>
            </a:xfrm>
            <a:custGeom>
              <a:avLst/>
              <a:gdLst/>
              <a:ahLst/>
              <a:cxnLst/>
              <a:rect l="l" t="t" r="r" b="b"/>
              <a:pathLst>
                <a:path w="1168400" h="1155700">
                  <a:moveTo>
                    <a:pt x="0" y="0"/>
                  </a:moveTo>
                  <a:lnTo>
                    <a:pt x="1168400" y="0"/>
                  </a:lnTo>
                  <a:lnTo>
                    <a:pt x="1168400" y="1155700"/>
                  </a:lnTo>
                  <a:lnTo>
                    <a:pt x="0" y="1155700"/>
                  </a:lnTo>
                  <a:close/>
                </a:path>
              </a:pathLst>
            </a:custGeom>
            <a:blipFill>
              <a:blip r:embed="rId21"/>
              <a:stretch>
                <a:fillRect/>
              </a:stretch>
            </a:blipFill>
          </p:spPr>
        </p:sp>
      </p:grpSp>
      <p:grpSp>
        <p:nvGrpSpPr>
          <p:cNvPr id="48" name="Group 48"/>
          <p:cNvGrpSpPr/>
          <p:nvPr/>
        </p:nvGrpSpPr>
        <p:grpSpPr>
          <a:xfrm>
            <a:off x="4133850" y="6210300"/>
            <a:ext cx="657225" cy="647700"/>
            <a:chOff x="0" y="0"/>
            <a:chExt cx="876300" cy="8636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76300" cy="863600"/>
            </a:xfrm>
            <a:custGeom>
              <a:avLst/>
              <a:gdLst/>
              <a:ahLst/>
              <a:cxnLst/>
              <a:rect l="l" t="t" r="r" b="b"/>
              <a:pathLst>
                <a:path w="876300" h="863600">
                  <a:moveTo>
                    <a:pt x="0" y="0"/>
                  </a:moveTo>
                  <a:lnTo>
                    <a:pt x="876300" y="0"/>
                  </a:lnTo>
                  <a:lnTo>
                    <a:pt x="876300" y="863600"/>
                  </a:lnTo>
                  <a:lnTo>
                    <a:pt x="0" y="863600"/>
                  </a:lnTo>
                  <a:close/>
                </a:path>
              </a:pathLst>
            </a:custGeom>
            <a:blipFill>
              <a:blip r:embed="rId22"/>
              <a:stretch>
                <a:fillRect/>
              </a:stretch>
            </a:blipFill>
          </p:spPr>
        </p:sp>
      </p:grpSp>
      <p:sp>
        <p:nvSpPr>
          <p:cNvPr id="50" name="TextBox 50"/>
          <p:cNvSpPr txBox="1"/>
          <p:nvPr/>
        </p:nvSpPr>
        <p:spPr>
          <a:xfrm>
            <a:off x="5049536" y="6267269"/>
            <a:ext cx="1359647" cy="629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8"/>
              </a:lnSpc>
            </a:pPr>
            <a:r>
              <a:rPr lang="en-US" sz="2271" b="1" spc="-45">
                <a:solidFill>
                  <a:srgbClr val="636966"/>
                </a:solidFill>
                <a:latin typeface="Open Sans Condensed Medium"/>
                <a:ea typeface="Open Sans Condensed Medium"/>
                <a:cs typeface="Open Sans Condensed Medium"/>
                <a:sym typeface="Open Sans Condensed Medium"/>
              </a:rPr>
              <a:t>Find nearby</a:t>
            </a:r>
          </a:p>
          <a:p>
            <a:pPr algn="l">
              <a:lnSpc>
                <a:spcPts val="2498"/>
              </a:lnSpc>
            </a:pPr>
            <a:r>
              <a:rPr lang="en-US" sz="2271" b="1" spc="-45">
                <a:solidFill>
                  <a:srgbClr val="636966"/>
                </a:solidFill>
                <a:latin typeface="Open Sans Condensed Medium"/>
                <a:ea typeface="Open Sans Condensed Medium"/>
                <a:cs typeface="Open Sans Condensed Medium"/>
                <a:sym typeface="Open Sans Condensed Medium"/>
              </a:rPr>
              <a:t>opportunities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4133850" y="7286625"/>
            <a:ext cx="876300" cy="857250"/>
            <a:chOff x="0" y="0"/>
            <a:chExt cx="1168400" cy="11430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168400" cy="1143000"/>
            </a:xfrm>
            <a:custGeom>
              <a:avLst/>
              <a:gdLst/>
              <a:ahLst/>
              <a:cxnLst/>
              <a:rect l="l" t="t" r="r" b="b"/>
              <a:pathLst>
                <a:path w="1168400" h="1143000">
                  <a:moveTo>
                    <a:pt x="0" y="0"/>
                  </a:moveTo>
                  <a:lnTo>
                    <a:pt x="1168400" y="0"/>
                  </a:lnTo>
                  <a:lnTo>
                    <a:pt x="1168400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23"/>
              <a:stretch>
                <a:fillRect/>
              </a:stretch>
            </a:blipFill>
          </p:spPr>
        </p:sp>
      </p:grpSp>
      <p:grpSp>
        <p:nvGrpSpPr>
          <p:cNvPr id="53" name="Group 53"/>
          <p:cNvGrpSpPr/>
          <p:nvPr/>
        </p:nvGrpSpPr>
        <p:grpSpPr>
          <a:xfrm>
            <a:off x="4133850" y="7286625"/>
            <a:ext cx="657225" cy="647700"/>
            <a:chOff x="0" y="0"/>
            <a:chExt cx="876300" cy="8636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76300" cy="863600"/>
            </a:xfrm>
            <a:custGeom>
              <a:avLst/>
              <a:gdLst/>
              <a:ahLst/>
              <a:cxnLst/>
              <a:rect l="l" t="t" r="r" b="b"/>
              <a:pathLst>
                <a:path w="876300" h="863600">
                  <a:moveTo>
                    <a:pt x="0" y="0"/>
                  </a:moveTo>
                  <a:lnTo>
                    <a:pt x="876300" y="0"/>
                  </a:lnTo>
                  <a:lnTo>
                    <a:pt x="876300" y="863600"/>
                  </a:lnTo>
                  <a:lnTo>
                    <a:pt x="0" y="863600"/>
                  </a:lnTo>
                  <a:close/>
                </a:path>
              </a:pathLst>
            </a:custGeom>
            <a:blipFill>
              <a:blip r:embed="rId24"/>
              <a:stretch>
                <a:fillRect/>
              </a:stretch>
            </a:blipFill>
          </p:spPr>
        </p:sp>
      </p:grpSp>
      <p:sp>
        <p:nvSpPr>
          <p:cNvPr id="55" name="TextBox 55"/>
          <p:cNvSpPr txBox="1"/>
          <p:nvPr/>
        </p:nvSpPr>
        <p:spPr>
          <a:xfrm>
            <a:off x="5049677" y="7291954"/>
            <a:ext cx="1345538" cy="1002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399" b="1" spc="-48">
                <a:solidFill>
                  <a:srgbClr val="3D4243"/>
                </a:solidFill>
                <a:latin typeface="Open Sans Condensed Medium"/>
                <a:ea typeface="Open Sans Condensed Medium"/>
                <a:cs typeface="Open Sans Condensed Medium"/>
                <a:sym typeface="Open Sans Condensed Medium"/>
              </a:rPr>
              <a:t>Receive food</a:t>
            </a:r>
          </a:p>
          <a:p>
            <a:pPr algn="l">
              <a:lnSpc>
                <a:spcPts val="2638"/>
              </a:lnSpc>
            </a:pPr>
            <a:r>
              <a:rPr lang="en-US" sz="2399" spc="-48">
                <a:solidFill>
                  <a:srgbClr val="3D4243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quickly and</a:t>
            </a:r>
          </a:p>
          <a:p>
            <a:pPr algn="l">
              <a:lnSpc>
                <a:spcPts val="2638"/>
              </a:lnSpc>
            </a:pPr>
            <a:r>
              <a:rPr lang="en-US" sz="2399" b="1" spc="-48">
                <a:solidFill>
                  <a:srgbClr val="3D4243"/>
                </a:solidFill>
                <a:latin typeface="Open Sans Condensed Medium"/>
                <a:ea typeface="Open Sans Condensed Medium"/>
                <a:cs typeface="Open Sans Condensed Medium"/>
                <a:sym typeface="Open Sans Condensed Medium"/>
              </a:rPr>
              <a:t>conveniently</a:t>
            </a:r>
          </a:p>
        </p:txBody>
      </p:sp>
      <p:grpSp>
        <p:nvGrpSpPr>
          <p:cNvPr id="56" name="Group 56"/>
          <p:cNvGrpSpPr/>
          <p:nvPr/>
        </p:nvGrpSpPr>
        <p:grpSpPr>
          <a:xfrm>
            <a:off x="7181850" y="3638550"/>
            <a:ext cx="3486150" cy="5153025"/>
            <a:chOff x="0" y="0"/>
            <a:chExt cx="4648200" cy="68707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4648200" cy="6870700"/>
            </a:xfrm>
            <a:custGeom>
              <a:avLst/>
              <a:gdLst/>
              <a:ahLst/>
              <a:cxnLst/>
              <a:rect l="l" t="t" r="r" b="b"/>
              <a:pathLst>
                <a:path w="4648200" h="6870700">
                  <a:moveTo>
                    <a:pt x="0" y="0"/>
                  </a:moveTo>
                  <a:lnTo>
                    <a:pt x="4648200" y="0"/>
                  </a:lnTo>
                  <a:lnTo>
                    <a:pt x="4648200" y="6870700"/>
                  </a:lnTo>
                  <a:lnTo>
                    <a:pt x="0" y="6870700"/>
                  </a:lnTo>
                  <a:close/>
                </a:path>
              </a:pathLst>
            </a:custGeom>
            <a:blipFill>
              <a:blip r:embed="rId25"/>
              <a:stretch>
                <a:fillRect/>
              </a:stretch>
            </a:blipFill>
          </p:spPr>
        </p:sp>
      </p:grpSp>
      <p:grpSp>
        <p:nvGrpSpPr>
          <p:cNvPr id="58" name="Group 58"/>
          <p:cNvGrpSpPr/>
          <p:nvPr/>
        </p:nvGrpSpPr>
        <p:grpSpPr>
          <a:xfrm>
            <a:off x="7400925" y="3857625"/>
            <a:ext cx="1095375" cy="1076325"/>
            <a:chOff x="0" y="0"/>
            <a:chExt cx="1460500" cy="14351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460500" cy="1435100"/>
            </a:xfrm>
            <a:custGeom>
              <a:avLst/>
              <a:gdLst/>
              <a:ahLst/>
              <a:cxnLst/>
              <a:rect l="l" t="t" r="r" b="b"/>
              <a:pathLst>
                <a:path w="1460500" h="1435100">
                  <a:moveTo>
                    <a:pt x="0" y="0"/>
                  </a:moveTo>
                  <a:lnTo>
                    <a:pt x="1460500" y="0"/>
                  </a:lnTo>
                  <a:lnTo>
                    <a:pt x="1460500" y="1435100"/>
                  </a:lnTo>
                  <a:lnTo>
                    <a:pt x="0" y="1435100"/>
                  </a:lnTo>
                  <a:close/>
                </a:path>
              </a:pathLst>
            </a:custGeom>
            <a:blipFill>
              <a:blip r:embed="rId26"/>
              <a:stretch>
                <a:fillRect/>
              </a:stretch>
            </a:blipFill>
          </p:spPr>
        </p:sp>
      </p:grpSp>
      <p:grpSp>
        <p:nvGrpSpPr>
          <p:cNvPr id="60" name="Group 60"/>
          <p:cNvGrpSpPr/>
          <p:nvPr/>
        </p:nvGrpSpPr>
        <p:grpSpPr>
          <a:xfrm>
            <a:off x="7620000" y="4067175"/>
            <a:ext cx="657225" cy="647700"/>
            <a:chOff x="0" y="0"/>
            <a:chExt cx="876300" cy="8636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876300" cy="863600"/>
            </a:xfrm>
            <a:custGeom>
              <a:avLst/>
              <a:gdLst/>
              <a:ahLst/>
              <a:cxnLst/>
              <a:rect l="l" t="t" r="r" b="b"/>
              <a:pathLst>
                <a:path w="876300" h="863600">
                  <a:moveTo>
                    <a:pt x="0" y="0"/>
                  </a:moveTo>
                  <a:lnTo>
                    <a:pt x="876300" y="0"/>
                  </a:lnTo>
                  <a:lnTo>
                    <a:pt x="876300" y="863600"/>
                  </a:lnTo>
                  <a:lnTo>
                    <a:pt x="0" y="863600"/>
                  </a:lnTo>
                  <a:close/>
                </a:path>
              </a:pathLst>
            </a:custGeom>
            <a:blipFill>
              <a:blip r:embed="rId27"/>
              <a:stretch>
                <a:fillRect/>
              </a:stretch>
            </a:blipFill>
          </p:spPr>
        </p:sp>
      </p:grpSp>
      <p:sp>
        <p:nvSpPr>
          <p:cNvPr id="62" name="TextBox 62"/>
          <p:cNvSpPr txBox="1"/>
          <p:nvPr/>
        </p:nvSpPr>
        <p:spPr>
          <a:xfrm>
            <a:off x="8473005" y="4223455"/>
            <a:ext cx="1912762" cy="365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8"/>
              </a:lnSpc>
            </a:pPr>
            <a:r>
              <a:rPr lang="en-US" sz="2526" b="1" spc="-50">
                <a:solidFill>
                  <a:srgbClr val="F6F1E7"/>
                </a:solidFill>
                <a:latin typeface="Roboto Bold"/>
                <a:ea typeface="Roboto Bold"/>
                <a:cs typeface="Roboto Bold"/>
                <a:sym typeface="Roboto Bold"/>
              </a:rPr>
              <a:t>Communities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7400925" y="5143500"/>
            <a:ext cx="876300" cy="857250"/>
            <a:chOff x="0" y="0"/>
            <a:chExt cx="1168400" cy="11430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168400" cy="1143000"/>
            </a:xfrm>
            <a:custGeom>
              <a:avLst/>
              <a:gdLst/>
              <a:ahLst/>
              <a:cxnLst/>
              <a:rect l="l" t="t" r="r" b="b"/>
              <a:pathLst>
                <a:path w="1168400" h="1143000">
                  <a:moveTo>
                    <a:pt x="0" y="0"/>
                  </a:moveTo>
                  <a:lnTo>
                    <a:pt x="1168400" y="0"/>
                  </a:lnTo>
                  <a:lnTo>
                    <a:pt x="1168400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28"/>
              <a:stretch>
                <a:fillRect/>
              </a:stretch>
            </a:blipFill>
          </p:spPr>
        </p:sp>
      </p:grpSp>
      <p:grpSp>
        <p:nvGrpSpPr>
          <p:cNvPr id="65" name="Group 65"/>
          <p:cNvGrpSpPr/>
          <p:nvPr/>
        </p:nvGrpSpPr>
        <p:grpSpPr>
          <a:xfrm>
            <a:off x="7620000" y="5143500"/>
            <a:ext cx="438150" cy="647700"/>
            <a:chOff x="0" y="0"/>
            <a:chExt cx="584200" cy="86360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584200" cy="863600"/>
            </a:xfrm>
            <a:custGeom>
              <a:avLst/>
              <a:gdLst/>
              <a:ahLst/>
              <a:cxnLst/>
              <a:rect l="l" t="t" r="r" b="b"/>
              <a:pathLst>
                <a:path w="584200" h="863600">
                  <a:moveTo>
                    <a:pt x="0" y="0"/>
                  </a:moveTo>
                  <a:lnTo>
                    <a:pt x="584200" y="0"/>
                  </a:lnTo>
                  <a:lnTo>
                    <a:pt x="584200" y="863600"/>
                  </a:lnTo>
                  <a:lnTo>
                    <a:pt x="0" y="863600"/>
                  </a:lnTo>
                  <a:close/>
                </a:path>
              </a:pathLst>
            </a:custGeom>
            <a:blipFill>
              <a:blip r:embed="rId29"/>
              <a:stretch>
                <a:fillRect/>
              </a:stretch>
            </a:blipFill>
          </p:spPr>
        </p:sp>
      </p:grpSp>
      <p:sp>
        <p:nvSpPr>
          <p:cNvPr id="67" name="TextBox 67"/>
          <p:cNvSpPr txBox="1"/>
          <p:nvPr/>
        </p:nvSpPr>
        <p:spPr>
          <a:xfrm>
            <a:off x="8399038" y="5212450"/>
            <a:ext cx="1272734" cy="629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8"/>
              </a:lnSpc>
            </a:pPr>
            <a:r>
              <a:rPr lang="en-US" sz="2271" spc="-45">
                <a:solidFill>
                  <a:srgbClr val="3D4243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Support</a:t>
            </a:r>
          </a:p>
          <a:p>
            <a:pPr algn="l">
              <a:lnSpc>
                <a:spcPts val="2498"/>
              </a:lnSpc>
            </a:pPr>
            <a:r>
              <a:rPr lang="en-US" sz="2271" spc="-45">
                <a:solidFill>
                  <a:srgbClr val="3D4243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sustainability</a:t>
            </a:r>
          </a:p>
        </p:txBody>
      </p:sp>
      <p:grpSp>
        <p:nvGrpSpPr>
          <p:cNvPr id="68" name="Group 68"/>
          <p:cNvGrpSpPr/>
          <p:nvPr/>
        </p:nvGrpSpPr>
        <p:grpSpPr>
          <a:xfrm>
            <a:off x="7400925" y="6210300"/>
            <a:ext cx="876300" cy="866775"/>
            <a:chOff x="0" y="0"/>
            <a:chExt cx="1168400" cy="115570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168400" cy="1155700"/>
            </a:xfrm>
            <a:custGeom>
              <a:avLst/>
              <a:gdLst/>
              <a:ahLst/>
              <a:cxnLst/>
              <a:rect l="l" t="t" r="r" b="b"/>
              <a:pathLst>
                <a:path w="1168400" h="1155700">
                  <a:moveTo>
                    <a:pt x="0" y="0"/>
                  </a:moveTo>
                  <a:lnTo>
                    <a:pt x="1168400" y="0"/>
                  </a:lnTo>
                  <a:lnTo>
                    <a:pt x="1168400" y="1155700"/>
                  </a:lnTo>
                  <a:lnTo>
                    <a:pt x="0" y="1155700"/>
                  </a:lnTo>
                  <a:close/>
                </a:path>
              </a:pathLst>
            </a:custGeom>
            <a:blipFill>
              <a:blip r:embed="rId30"/>
              <a:stretch>
                <a:fillRect/>
              </a:stretch>
            </a:blipFill>
          </p:spPr>
        </p:sp>
      </p:grpSp>
      <p:grpSp>
        <p:nvGrpSpPr>
          <p:cNvPr id="70" name="Group 70"/>
          <p:cNvGrpSpPr/>
          <p:nvPr/>
        </p:nvGrpSpPr>
        <p:grpSpPr>
          <a:xfrm>
            <a:off x="7620000" y="6210300"/>
            <a:ext cx="438150" cy="647700"/>
            <a:chOff x="0" y="0"/>
            <a:chExt cx="584200" cy="86360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584200" cy="863600"/>
            </a:xfrm>
            <a:custGeom>
              <a:avLst/>
              <a:gdLst/>
              <a:ahLst/>
              <a:cxnLst/>
              <a:rect l="l" t="t" r="r" b="b"/>
              <a:pathLst>
                <a:path w="584200" h="863600">
                  <a:moveTo>
                    <a:pt x="0" y="0"/>
                  </a:moveTo>
                  <a:lnTo>
                    <a:pt x="584200" y="0"/>
                  </a:lnTo>
                  <a:lnTo>
                    <a:pt x="584200" y="863600"/>
                  </a:lnTo>
                  <a:lnTo>
                    <a:pt x="0" y="863600"/>
                  </a:lnTo>
                  <a:close/>
                </a:path>
              </a:pathLst>
            </a:custGeom>
            <a:blipFill>
              <a:blip r:embed="rId31"/>
              <a:stretch>
                <a:fillRect/>
              </a:stretch>
            </a:blipFill>
          </p:spPr>
        </p:sp>
      </p:grpSp>
      <p:sp>
        <p:nvSpPr>
          <p:cNvPr id="72" name="TextBox 72"/>
          <p:cNvSpPr txBox="1"/>
          <p:nvPr/>
        </p:nvSpPr>
        <p:spPr>
          <a:xfrm>
            <a:off x="8398284" y="6191928"/>
            <a:ext cx="1348153" cy="1002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399" spc="-48">
                <a:solidFill>
                  <a:srgbClr val="636966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Encourage</a:t>
            </a:r>
          </a:p>
          <a:p>
            <a:pPr algn="l">
              <a:lnSpc>
                <a:spcPts val="2638"/>
              </a:lnSpc>
            </a:pPr>
            <a:r>
              <a:rPr lang="en-US" sz="2399" spc="-48">
                <a:solidFill>
                  <a:srgbClr val="636966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responsible</a:t>
            </a:r>
          </a:p>
          <a:p>
            <a:pPr algn="l">
              <a:lnSpc>
                <a:spcPts val="2638"/>
              </a:lnSpc>
            </a:pPr>
            <a:r>
              <a:rPr lang="en-US" sz="2399" spc="-48">
                <a:solidFill>
                  <a:srgbClr val="636966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consumption</a:t>
            </a:r>
          </a:p>
        </p:txBody>
      </p:sp>
      <p:grpSp>
        <p:nvGrpSpPr>
          <p:cNvPr id="73" name="Group 73"/>
          <p:cNvGrpSpPr/>
          <p:nvPr/>
        </p:nvGrpSpPr>
        <p:grpSpPr>
          <a:xfrm>
            <a:off x="7400925" y="7496175"/>
            <a:ext cx="876300" cy="866775"/>
            <a:chOff x="0" y="0"/>
            <a:chExt cx="1168400" cy="115570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1168400" cy="1155700"/>
            </a:xfrm>
            <a:custGeom>
              <a:avLst/>
              <a:gdLst/>
              <a:ahLst/>
              <a:cxnLst/>
              <a:rect l="l" t="t" r="r" b="b"/>
              <a:pathLst>
                <a:path w="1168400" h="1155700">
                  <a:moveTo>
                    <a:pt x="0" y="0"/>
                  </a:moveTo>
                  <a:lnTo>
                    <a:pt x="1168400" y="0"/>
                  </a:lnTo>
                  <a:lnTo>
                    <a:pt x="1168400" y="1155700"/>
                  </a:lnTo>
                  <a:lnTo>
                    <a:pt x="0" y="1155700"/>
                  </a:lnTo>
                  <a:close/>
                </a:path>
              </a:pathLst>
            </a:custGeom>
            <a:blipFill>
              <a:blip r:embed="rId32"/>
              <a:stretch>
                <a:fillRect/>
              </a:stretch>
            </a:blipFill>
          </p:spPr>
        </p:sp>
      </p:grpSp>
      <p:grpSp>
        <p:nvGrpSpPr>
          <p:cNvPr id="75" name="Group 75"/>
          <p:cNvGrpSpPr/>
          <p:nvPr/>
        </p:nvGrpSpPr>
        <p:grpSpPr>
          <a:xfrm>
            <a:off x="7620000" y="7496175"/>
            <a:ext cx="438150" cy="647700"/>
            <a:chOff x="0" y="0"/>
            <a:chExt cx="584200" cy="86360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584200" cy="863600"/>
            </a:xfrm>
            <a:custGeom>
              <a:avLst/>
              <a:gdLst/>
              <a:ahLst/>
              <a:cxnLst/>
              <a:rect l="l" t="t" r="r" b="b"/>
              <a:pathLst>
                <a:path w="584200" h="863600">
                  <a:moveTo>
                    <a:pt x="0" y="0"/>
                  </a:moveTo>
                  <a:lnTo>
                    <a:pt x="584200" y="0"/>
                  </a:lnTo>
                  <a:lnTo>
                    <a:pt x="584200" y="863600"/>
                  </a:lnTo>
                  <a:lnTo>
                    <a:pt x="0" y="863600"/>
                  </a:lnTo>
                  <a:close/>
                </a:path>
              </a:pathLst>
            </a:custGeom>
            <a:blipFill>
              <a:blip r:embed="rId33"/>
              <a:stretch>
                <a:fillRect/>
              </a:stretch>
            </a:blipFill>
          </p:spPr>
        </p:sp>
      </p:grpSp>
      <p:sp>
        <p:nvSpPr>
          <p:cNvPr id="77" name="TextBox 77"/>
          <p:cNvSpPr txBox="1"/>
          <p:nvPr/>
        </p:nvSpPr>
        <p:spPr>
          <a:xfrm>
            <a:off x="8395558" y="7502914"/>
            <a:ext cx="1620802" cy="629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8"/>
              </a:lnSpc>
            </a:pPr>
            <a:r>
              <a:rPr lang="en-US" sz="2271" b="1" spc="-45">
                <a:solidFill>
                  <a:srgbClr val="3D4243"/>
                </a:solidFill>
                <a:latin typeface="Open Sans Condensed Medium"/>
                <a:ea typeface="Open Sans Condensed Medium"/>
                <a:cs typeface="Open Sans Condensed Medium"/>
                <a:sym typeface="Open Sans Condensed Medium"/>
              </a:rPr>
              <a:t>Strengthen local</a:t>
            </a:r>
          </a:p>
          <a:p>
            <a:pPr algn="l">
              <a:lnSpc>
                <a:spcPts val="2498"/>
              </a:lnSpc>
            </a:pPr>
            <a:r>
              <a:rPr lang="en-US" sz="2271" b="1" spc="-45">
                <a:solidFill>
                  <a:srgbClr val="3D4243"/>
                </a:solidFill>
                <a:latin typeface="Open Sans Condensed Medium"/>
                <a:ea typeface="Open Sans Condensed Medium"/>
                <a:cs typeface="Open Sans Condensed Medium"/>
                <a:sym typeface="Open Sans Condensed Medium"/>
              </a:rPr>
              <a:t>conventions</a:t>
            </a:r>
          </a:p>
        </p:txBody>
      </p:sp>
      <p:grpSp>
        <p:nvGrpSpPr>
          <p:cNvPr id="78" name="Group 78"/>
          <p:cNvGrpSpPr/>
          <p:nvPr/>
        </p:nvGrpSpPr>
        <p:grpSpPr>
          <a:xfrm>
            <a:off x="10010775" y="428625"/>
            <a:ext cx="8277225" cy="9648825"/>
            <a:chOff x="0" y="0"/>
            <a:chExt cx="11036300" cy="1286510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11036300" cy="12865100"/>
            </a:xfrm>
            <a:custGeom>
              <a:avLst/>
              <a:gdLst/>
              <a:ahLst/>
              <a:cxnLst/>
              <a:rect l="l" t="t" r="r" b="b"/>
              <a:pathLst>
                <a:path w="11036300" h="12865100">
                  <a:moveTo>
                    <a:pt x="0" y="0"/>
                  </a:moveTo>
                  <a:lnTo>
                    <a:pt x="11036300" y="0"/>
                  </a:lnTo>
                  <a:lnTo>
                    <a:pt x="11036300" y="12865100"/>
                  </a:lnTo>
                  <a:lnTo>
                    <a:pt x="0" y="12865100"/>
                  </a:lnTo>
                  <a:close/>
                </a:path>
              </a:pathLst>
            </a:custGeom>
            <a:blipFill>
              <a:blip r:embed="rId34"/>
              <a:stretch>
                <a:fillRect/>
              </a:stretch>
            </a:blipFill>
          </p:spPr>
        </p:sp>
      </p:grpSp>
      <p:grpSp>
        <p:nvGrpSpPr>
          <p:cNvPr id="80" name="Group 80"/>
          <p:cNvGrpSpPr/>
          <p:nvPr/>
        </p:nvGrpSpPr>
        <p:grpSpPr>
          <a:xfrm>
            <a:off x="0" y="8572500"/>
            <a:ext cx="18288000" cy="1714500"/>
            <a:chOff x="0" y="0"/>
            <a:chExt cx="24384000" cy="228600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24384000" cy="2286000"/>
            </a:xfrm>
            <a:custGeom>
              <a:avLst/>
              <a:gdLst/>
              <a:ahLst/>
              <a:cxnLst/>
              <a:rect l="l" t="t" r="r" b="b"/>
              <a:pathLst>
                <a:path w="24384000" h="2286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5"/>
              <a:stretch>
                <a:fillRect/>
              </a:stretch>
            </a:blipFill>
          </p:spPr>
        </p:sp>
      </p:grpSp>
      <p:grpSp>
        <p:nvGrpSpPr>
          <p:cNvPr id="82" name="Group 82"/>
          <p:cNvGrpSpPr/>
          <p:nvPr/>
        </p:nvGrpSpPr>
        <p:grpSpPr>
          <a:xfrm>
            <a:off x="1524000" y="8572500"/>
            <a:ext cx="876300" cy="1076325"/>
            <a:chOff x="0" y="0"/>
            <a:chExt cx="1168400" cy="143510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1168400" cy="1435100"/>
            </a:xfrm>
            <a:custGeom>
              <a:avLst/>
              <a:gdLst/>
              <a:ahLst/>
              <a:cxnLst/>
              <a:rect l="l" t="t" r="r" b="b"/>
              <a:pathLst>
                <a:path w="1168400" h="1435100">
                  <a:moveTo>
                    <a:pt x="0" y="0"/>
                  </a:moveTo>
                  <a:lnTo>
                    <a:pt x="1168400" y="0"/>
                  </a:lnTo>
                  <a:lnTo>
                    <a:pt x="1168400" y="1435100"/>
                  </a:lnTo>
                  <a:lnTo>
                    <a:pt x="0" y="1435100"/>
                  </a:lnTo>
                  <a:close/>
                </a:path>
              </a:pathLst>
            </a:custGeom>
            <a:blipFill>
              <a:blip r:embed="rId36"/>
              <a:stretch>
                <a:fillRect/>
              </a:stretch>
            </a:blipFill>
          </p:spPr>
        </p:sp>
      </p:grpSp>
      <p:grpSp>
        <p:nvGrpSpPr>
          <p:cNvPr id="84" name="Group 84"/>
          <p:cNvGrpSpPr/>
          <p:nvPr/>
        </p:nvGrpSpPr>
        <p:grpSpPr>
          <a:xfrm>
            <a:off x="1733550" y="9210675"/>
            <a:ext cx="885825" cy="647700"/>
            <a:chOff x="0" y="0"/>
            <a:chExt cx="1181100" cy="863600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1181100" cy="863600"/>
            </a:xfrm>
            <a:custGeom>
              <a:avLst/>
              <a:gdLst/>
              <a:ahLst/>
              <a:cxnLst/>
              <a:rect l="l" t="t" r="r" b="b"/>
              <a:pathLst>
                <a:path w="1181100" h="863600">
                  <a:moveTo>
                    <a:pt x="0" y="0"/>
                  </a:moveTo>
                  <a:lnTo>
                    <a:pt x="1181100" y="0"/>
                  </a:lnTo>
                  <a:lnTo>
                    <a:pt x="1181100" y="863600"/>
                  </a:lnTo>
                  <a:lnTo>
                    <a:pt x="0" y="863600"/>
                  </a:lnTo>
                  <a:close/>
                </a:path>
              </a:pathLst>
            </a:custGeom>
            <a:blipFill>
              <a:blip r:embed="rId37"/>
              <a:stretch>
                <a:fillRect/>
              </a:stretch>
            </a:blipFill>
          </p:spPr>
        </p:sp>
      </p:grpSp>
      <p:sp>
        <p:nvSpPr>
          <p:cNvPr id="86" name="TextBox 86"/>
          <p:cNvSpPr txBox="1"/>
          <p:nvPr/>
        </p:nvSpPr>
        <p:spPr>
          <a:xfrm>
            <a:off x="5155228" y="4223455"/>
            <a:ext cx="1506070" cy="365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8"/>
              </a:lnSpc>
            </a:pPr>
            <a:r>
              <a:rPr lang="en-US" sz="2526" b="1" spc="-50">
                <a:solidFill>
                  <a:srgbClr val="F6F1E7"/>
                </a:solidFill>
                <a:latin typeface="Roboto Bold"/>
                <a:ea typeface="Roboto Bold"/>
                <a:cs typeface="Roboto Bold"/>
                <a:sym typeface="Roboto Bold"/>
              </a:rPr>
              <a:t>Recipients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3486150" cy="2571750"/>
            <a:chOff x="0" y="0"/>
            <a:chExt cx="4648200" cy="342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648200" cy="3429000"/>
            </a:xfrm>
            <a:custGeom>
              <a:avLst/>
              <a:gdLst/>
              <a:ahLst/>
              <a:cxnLst/>
              <a:rect l="l" t="t" r="r" b="b"/>
              <a:pathLst>
                <a:path w="4648200" h="3429000">
                  <a:moveTo>
                    <a:pt x="0" y="0"/>
                  </a:moveTo>
                  <a:lnTo>
                    <a:pt x="4648200" y="0"/>
                  </a:lnTo>
                  <a:lnTo>
                    <a:pt x="4648200" y="3429000"/>
                  </a:lnTo>
                  <a:lnTo>
                    <a:pt x="0" y="342900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0" y="0"/>
            <a:ext cx="1962150" cy="1285875"/>
            <a:chOff x="0" y="0"/>
            <a:chExt cx="2616200" cy="17145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616200" cy="1714500"/>
            </a:xfrm>
            <a:custGeom>
              <a:avLst/>
              <a:gdLst/>
              <a:ahLst/>
              <a:cxnLst/>
              <a:rect l="l" t="t" r="r" b="b"/>
              <a:pathLst>
                <a:path w="2616200" h="1714500">
                  <a:moveTo>
                    <a:pt x="0" y="0"/>
                  </a:moveTo>
                  <a:lnTo>
                    <a:pt x="2616200" y="0"/>
                  </a:lnTo>
                  <a:lnTo>
                    <a:pt x="2616200" y="1714500"/>
                  </a:lnTo>
                  <a:lnTo>
                    <a:pt x="0" y="17145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0" y="7496175"/>
            <a:ext cx="1743075" cy="2790825"/>
            <a:chOff x="0" y="0"/>
            <a:chExt cx="2324100" cy="37211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324100" cy="3721100"/>
            </a:xfrm>
            <a:custGeom>
              <a:avLst/>
              <a:gdLst/>
              <a:ahLst/>
              <a:cxnLst/>
              <a:rect l="l" t="t" r="r" b="b"/>
              <a:pathLst>
                <a:path w="2324100" h="3721100">
                  <a:moveTo>
                    <a:pt x="0" y="0"/>
                  </a:moveTo>
                  <a:lnTo>
                    <a:pt x="2324100" y="0"/>
                  </a:lnTo>
                  <a:lnTo>
                    <a:pt x="2324100" y="3721100"/>
                  </a:lnTo>
                  <a:lnTo>
                    <a:pt x="0" y="372110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2828925" y="0"/>
            <a:ext cx="3924300" cy="1076325"/>
            <a:chOff x="0" y="0"/>
            <a:chExt cx="5232400" cy="1435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232400" cy="1435100"/>
            </a:xfrm>
            <a:custGeom>
              <a:avLst/>
              <a:gdLst/>
              <a:ahLst/>
              <a:cxnLst/>
              <a:rect l="l" t="t" r="r" b="b"/>
              <a:pathLst>
                <a:path w="5232400" h="1435100">
                  <a:moveTo>
                    <a:pt x="0" y="0"/>
                  </a:moveTo>
                  <a:lnTo>
                    <a:pt x="5232400" y="0"/>
                  </a:lnTo>
                  <a:lnTo>
                    <a:pt x="5232400" y="1435100"/>
                  </a:lnTo>
                  <a:lnTo>
                    <a:pt x="0" y="143510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6096000" y="0"/>
            <a:ext cx="657225" cy="857250"/>
            <a:chOff x="0" y="0"/>
            <a:chExt cx="876300" cy="1143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76300" cy="1143000"/>
            </a:xfrm>
            <a:custGeom>
              <a:avLst/>
              <a:gdLst/>
              <a:ahLst/>
              <a:cxnLst/>
              <a:rect l="l" t="t" r="r" b="b"/>
              <a:pathLst>
                <a:path w="876300" h="1143000">
                  <a:moveTo>
                    <a:pt x="0" y="0"/>
                  </a:moveTo>
                  <a:lnTo>
                    <a:pt x="876300" y="0"/>
                  </a:lnTo>
                  <a:lnTo>
                    <a:pt x="876300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428625" y="1066800"/>
            <a:ext cx="9372600" cy="8582025"/>
            <a:chOff x="0" y="0"/>
            <a:chExt cx="12496800" cy="114427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496800" cy="11442700"/>
            </a:xfrm>
            <a:custGeom>
              <a:avLst/>
              <a:gdLst/>
              <a:ahLst/>
              <a:cxnLst/>
              <a:rect l="l" t="t" r="r" b="b"/>
              <a:pathLst>
                <a:path w="12496800" h="11442700">
                  <a:moveTo>
                    <a:pt x="0" y="0"/>
                  </a:moveTo>
                  <a:lnTo>
                    <a:pt x="12496800" y="0"/>
                  </a:lnTo>
                  <a:lnTo>
                    <a:pt x="12496800" y="11442700"/>
                  </a:lnTo>
                  <a:lnTo>
                    <a:pt x="0" y="1144270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120288" y="1393489"/>
            <a:ext cx="3164156" cy="1776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11"/>
              </a:lnSpc>
            </a:pPr>
            <a:r>
              <a:rPr lang="en-US" sz="13311" b="1" spc="-396">
                <a:solidFill>
                  <a:srgbClr val="F4E9D7"/>
                </a:solidFill>
                <a:latin typeface="Barlow Ultra-Bold"/>
                <a:ea typeface="Barlow Ultra-Bold"/>
                <a:cs typeface="Barlow Ultra-Bold"/>
                <a:sym typeface="Barlow Ultra-Bold"/>
              </a:rPr>
              <a:t>Join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67191" y="3020925"/>
            <a:ext cx="8473858" cy="1776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11"/>
              </a:lnSpc>
            </a:pPr>
            <a:r>
              <a:rPr lang="en-US" sz="13311" b="1" spc="-396">
                <a:solidFill>
                  <a:srgbClr val="F39333"/>
                </a:solidFill>
                <a:latin typeface="Barlow Ultra-Bold"/>
                <a:ea typeface="Barlow Ultra-Bold"/>
                <a:cs typeface="Barlow Ultra-Bold"/>
                <a:sym typeface="Barlow Ultra-Bold"/>
              </a:rPr>
              <a:t>FoodBridge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85850" y="4924425"/>
            <a:ext cx="876300" cy="866775"/>
            <a:chOff x="0" y="0"/>
            <a:chExt cx="1168400" cy="11557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168400" cy="1155700"/>
            </a:xfrm>
            <a:custGeom>
              <a:avLst/>
              <a:gdLst/>
              <a:ahLst/>
              <a:cxnLst/>
              <a:rect l="l" t="t" r="r" b="b"/>
              <a:pathLst>
                <a:path w="1168400" h="1155700">
                  <a:moveTo>
                    <a:pt x="0" y="0"/>
                  </a:moveTo>
                  <a:lnTo>
                    <a:pt x="1168400" y="0"/>
                  </a:lnTo>
                  <a:lnTo>
                    <a:pt x="1168400" y="1155700"/>
                  </a:lnTo>
                  <a:lnTo>
                    <a:pt x="0" y="115570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1304925" y="5143500"/>
            <a:ext cx="657225" cy="647700"/>
            <a:chOff x="0" y="0"/>
            <a:chExt cx="876300" cy="8636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76300" cy="863600"/>
            </a:xfrm>
            <a:custGeom>
              <a:avLst/>
              <a:gdLst/>
              <a:ahLst/>
              <a:cxnLst/>
              <a:rect l="l" t="t" r="r" b="b"/>
              <a:pathLst>
                <a:path w="876300" h="863600">
                  <a:moveTo>
                    <a:pt x="0" y="0"/>
                  </a:moveTo>
                  <a:lnTo>
                    <a:pt x="876300" y="0"/>
                  </a:lnTo>
                  <a:lnTo>
                    <a:pt x="876300" y="863600"/>
                  </a:lnTo>
                  <a:lnTo>
                    <a:pt x="0" y="86360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2163827" y="5212817"/>
            <a:ext cx="3287639" cy="348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 b="1" spc="-74">
                <a:solidFill>
                  <a:srgbClr val="F4E9D7"/>
                </a:solidFill>
                <a:latin typeface="Poppins Bold"/>
                <a:ea typeface="Poppins Bold"/>
                <a:cs typeface="Poppins Bold"/>
                <a:sym typeface="Poppins Bold"/>
              </a:rPr>
              <a:t>Donate surplus food.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085850" y="5781675"/>
            <a:ext cx="876300" cy="866775"/>
            <a:chOff x="0" y="0"/>
            <a:chExt cx="1168400" cy="11557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68400" cy="1155700"/>
            </a:xfrm>
            <a:custGeom>
              <a:avLst/>
              <a:gdLst/>
              <a:ahLst/>
              <a:cxnLst/>
              <a:rect l="l" t="t" r="r" b="b"/>
              <a:pathLst>
                <a:path w="1168400" h="1155700">
                  <a:moveTo>
                    <a:pt x="0" y="0"/>
                  </a:moveTo>
                  <a:lnTo>
                    <a:pt x="1168400" y="0"/>
                  </a:lnTo>
                  <a:lnTo>
                    <a:pt x="1168400" y="1155700"/>
                  </a:lnTo>
                  <a:lnTo>
                    <a:pt x="0" y="115570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1304925" y="6000750"/>
            <a:ext cx="657225" cy="647700"/>
            <a:chOff x="0" y="0"/>
            <a:chExt cx="876300" cy="8636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76300" cy="863600"/>
            </a:xfrm>
            <a:custGeom>
              <a:avLst/>
              <a:gdLst/>
              <a:ahLst/>
              <a:cxnLst/>
              <a:rect l="l" t="t" r="r" b="b"/>
              <a:pathLst>
                <a:path w="876300" h="863600">
                  <a:moveTo>
                    <a:pt x="0" y="0"/>
                  </a:moveTo>
                  <a:lnTo>
                    <a:pt x="876300" y="0"/>
                  </a:lnTo>
                  <a:lnTo>
                    <a:pt x="876300" y="863600"/>
                  </a:lnTo>
                  <a:lnTo>
                    <a:pt x="0" y="86360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</p:grpSp>
      <p:sp>
        <p:nvSpPr>
          <p:cNvPr id="28" name="TextBox 28"/>
          <p:cNvSpPr txBox="1"/>
          <p:nvPr/>
        </p:nvSpPr>
        <p:spPr>
          <a:xfrm>
            <a:off x="2162849" y="6116948"/>
            <a:ext cx="3385403" cy="348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 b="1" spc="-74">
                <a:solidFill>
                  <a:srgbClr val="F4E9D7"/>
                </a:solidFill>
                <a:latin typeface="Poppins Bold"/>
                <a:ea typeface="Poppins Bold"/>
                <a:cs typeface="Poppins Bold"/>
                <a:sym typeface="Poppins Bold"/>
              </a:rPr>
              <a:t>Claim available food.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085850" y="6638925"/>
            <a:ext cx="876300" cy="1076325"/>
            <a:chOff x="0" y="0"/>
            <a:chExt cx="1168400" cy="14351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168400" cy="1435100"/>
            </a:xfrm>
            <a:custGeom>
              <a:avLst/>
              <a:gdLst/>
              <a:ahLst/>
              <a:cxnLst/>
              <a:rect l="l" t="t" r="r" b="b"/>
              <a:pathLst>
                <a:path w="1168400" h="1435100">
                  <a:moveTo>
                    <a:pt x="0" y="0"/>
                  </a:moveTo>
                  <a:lnTo>
                    <a:pt x="1168400" y="0"/>
                  </a:lnTo>
                  <a:lnTo>
                    <a:pt x="1168400" y="1435100"/>
                  </a:lnTo>
                  <a:lnTo>
                    <a:pt x="0" y="1435100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</p:sp>
      </p:grpSp>
      <p:grpSp>
        <p:nvGrpSpPr>
          <p:cNvPr id="31" name="Group 31"/>
          <p:cNvGrpSpPr/>
          <p:nvPr/>
        </p:nvGrpSpPr>
        <p:grpSpPr>
          <a:xfrm>
            <a:off x="1304925" y="6858000"/>
            <a:ext cx="657225" cy="647700"/>
            <a:chOff x="0" y="0"/>
            <a:chExt cx="876300" cy="8636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76300" cy="863600"/>
            </a:xfrm>
            <a:custGeom>
              <a:avLst/>
              <a:gdLst/>
              <a:ahLst/>
              <a:cxnLst/>
              <a:rect l="l" t="t" r="r" b="b"/>
              <a:pathLst>
                <a:path w="876300" h="863600">
                  <a:moveTo>
                    <a:pt x="0" y="0"/>
                  </a:moveTo>
                  <a:lnTo>
                    <a:pt x="876300" y="0"/>
                  </a:lnTo>
                  <a:lnTo>
                    <a:pt x="876300" y="863600"/>
                  </a:lnTo>
                  <a:lnTo>
                    <a:pt x="0" y="86360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</p:sp>
      </p:grpSp>
      <p:sp>
        <p:nvSpPr>
          <p:cNvPr id="33" name="TextBox 33"/>
          <p:cNvSpPr txBox="1"/>
          <p:nvPr/>
        </p:nvSpPr>
        <p:spPr>
          <a:xfrm>
            <a:off x="2136832" y="6990941"/>
            <a:ext cx="5987125" cy="348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 b="1" spc="-74">
                <a:solidFill>
                  <a:srgbClr val="F4E9D7"/>
                </a:solidFill>
                <a:latin typeface="Poppins Bold"/>
                <a:ea typeface="Poppins Bold"/>
                <a:cs typeface="Poppins Bold"/>
                <a:sym typeface="Poppins Bold"/>
              </a:rPr>
              <a:t>Build a more sustainable community.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085850" y="7715250"/>
            <a:ext cx="8058150" cy="219075"/>
            <a:chOff x="0" y="0"/>
            <a:chExt cx="10744200" cy="2921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744200" cy="292100"/>
            </a:xfrm>
            <a:custGeom>
              <a:avLst/>
              <a:gdLst/>
              <a:ahLst/>
              <a:cxnLst/>
              <a:rect l="l" t="t" r="r" b="b"/>
              <a:pathLst>
                <a:path w="10744200" h="292100">
                  <a:moveTo>
                    <a:pt x="0" y="0"/>
                  </a:moveTo>
                  <a:lnTo>
                    <a:pt x="10744200" y="0"/>
                  </a:lnTo>
                  <a:lnTo>
                    <a:pt x="10744200" y="292100"/>
                  </a:lnTo>
                  <a:lnTo>
                    <a:pt x="0" y="292100"/>
                  </a:lnTo>
                  <a:close/>
                </a:path>
              </a:pathLst>
            </a:custGeom>
            <a:blipFill>
              <a:blip r:embed="rId16"/>
              <a:stretch>
                <a:fillRect/>
              </a:stretch>
            </a:blipFill>
          </p:spPr>
        </p:sp>
      </p:grpSp>
      <p:grpSp>
        <p:nvGrpSpPr>
          <p:cNvPr id="36" name="Group 36"/>
          <p:cNvGrpSpPr/>
          <p:nvPr/>
        </p:nvGrpSpPr>
        <p:grpSpPr>
          <a:xfrm>
            <a:off x="1085850" y="8143875"/>
            <a:ext cx="6753225" cy="1076325"/>
            <a:chOff x="0" y="0"/>
            <a:chExt cx="9004300" cy="14351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004300" cy="1435100"/>
            </a:xfrm>
            <a:custGeom>
              <a:avLst/>
              <a:gdLst/>
              <a:ahLst/>
              <a:cxnLst/>
              <a:rect l="l" t="t" r="r" b="b"/>
              <a:pathLst>
                <a:path w="9004300" h="1435100">
                  <a:moveTo>
                    <a:pt x="0" y="0"/>
                  </a:moveTo>
                  <a:lnTo>
                    <a:pt x="9004300" y="0"/>
                  </a:lnTo>
                  <a:lnTo>
                    <a:pt x="9004300" y="1435100"/>
                  </a:lnTo>
                  <a:lnTo>
                    <a:pt x="0" y="1435100"/>
                  </a:lnTo>
                  <a:close/>
                </a:path>
              </a:pathLst>
            </a:custGeom>
            <a:blipFill>
              <a:blip r:embed="rId17"/>
              <a:stretch>
                <a:fillRect/>
              </a:stretch>
            </a:blipFill>
          </p:spPr>
        </p:sp>
      </p:grpSp>
      <p:grpSp>
        <p:nvGrpSpPr>
          <p:cNvPr id="38" name="Group 38"/>
          <p:cNvGrpSpPr/>
          <p:nvPr/>
        </p:nvGrpSpPr>
        <p:grpSpPr>
          <a:xfrm>
            <a:off x="1524000" y="8353425"/>
            <a:ext cx="657225" cy="647700"/>
            <a:chOff x="0" y="0"/>
            <a:chExt cx="876300" cy="8636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76300" cy="863600"/>
            </a:xfrm>
            <a:custGeom>
              <a:avLst/>
              <a:gdLst/>
              <a:ahLst/>
              <a:cxnLst/>
              <a:rect l="l" t="t" r="r" b="b"/>
              <a:pathLst>
                <a:path w="876300" h="863600">
                  <a:moveTo>
                    <a:pt x="0" y="0"/>
                  </a:moveTo>
                  <a:lnTo>
                    <a:pt x="876300" y="0"/>
                  </a:lnTo>
                  <a:lnTo>
                    <a:pt x="876300" y="863600"/>
                  </a:lnTo>
                  <a:lnTo>
                    <a:pt x="0" y="863600"/>
                  </a:lnTo>
                  <a:close/>
                </a:path>
              </a:pathLst>
            </a:custGeom>
            <a:blipFill>
              <a:blip r:embed="rId18"/>
              <a:stretch>
                <a:fillRect/>
              </a:stretch>
            </a:blipFill>
          </p:spPr>
        </p:sp>
      </p:grpSp>
      <p:sp>
        <p:nvSpPr>
          <p:cNvPr id="40" name="TextBox 40"/>
          <p:cNvSpPr txBox="1"/>
          <p:nvPr/>
        </p:nvSpPr>
        <p:spPr>
          <a:xfrm>
            <a:off x="2229438" y="8512894"/>
            <a:ext cx="4763209" cy="348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 b="1" spc="-74">
                <a:solidFill>
                  <a:srgbClr val="0B2B24"/>
                </a:solidFill>
                <a:latin typeface="Poppins Bold"/>
                <a:ea typeface="Poppins Bold"/>
                <a:cs typeface="Poppins Bold"/>
                <a:sym typeface="Poppins Bold"/>
              </a:rPr>
              <a:t>foodbridge-six-jet.vercel.app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13496925" y="7067550"/>
            <a:ext cx="4791075" cy="3219450"/>
            <a:chOff x="0" y="0"/>
            <a:chExt cx="6388100" cy="42926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388100" cy="4292600"/>
            </a:xfrm>
            <a:custGeom>
              <a:avLst/>
              <a:gdLst/>
              <a:ahLst/>
              <a:cxnLst/>
              <a:rect l="l" t="t" r="r" b="b"/>
              <a:pathLst>
                <a:path w="6388100" h="4292600">
                  <a:moveTo>
                    <a:pt x="0" y="0"/>
                  </a:moveTo>
                  <a:lnTo>
                    <a:pt x="6388100" y="0"/>
                  </a:lnTo>
                  <a:lnTo>
                    <a:pt x="6388100" y="4292600"/>
                  </a:lnTo>
                  <a:lnTo>
                    <a:pt x="0" y="4292600"/>
                  </a:lnTo>
                  <a:close/>
                </a:path>
              </a:pathLst>
            </a:custGeom>
            <a:blipFill>
              <a:blip r:embed="rId19"/>
              <a:stretch>
                <a:fillRect/>
              </a:stretch>
            </a:blipFill>
          </p:spPr>
        </p:sp>
      </p:grpSp>
      <p:grpSp>
        <p:nvGrpSpPr>
          <p:cNvPr id="43" name="Group 43"/>
          <p:cNvGrpSpPr/>
          <p:nvPr/>
        </p:nvGrpSpPr>
        <p:grpSpPr>
          <a:xfrm>
            <a:off x="14144625" y="9001125"/>
            <a:ext cx="3276600" cy="1285875"/>
            <a:chOff x="0" y="0"/>
            <a:chExt cx="4368800" cy="17145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4368800" cy="1714500"/>
            </a:xfrm>
            <a:custGeom>
              <a:avLst/>
              <a:gdLst/>
              <a:ahLst/>
              <a:cxnLst/>
              <a:rect l="l" t="t" r="r" b="b"/>
              <a:pathLst>
                <a:path w="4368800" h="1714500">
                  <a:moveTo>
                    <a:pt x="0" y="0"/>
                  </a:moveTo>
                  <a:lnTo>
                    <a:pt x="4368800" y="0"/>
                  </a:lnTo>
                  <a:lnTo>
                    <a:pt x="4368800" y="1714500"/>
                  </a:lnTo>
                  <a:lnTo>
                    <a:pt x="0" y="1714500"/>
                  </a:lnTo>
                  <a:close/>
                </a:path>
              </a:pathLst>
            </a:custGeom>
            <a:blipFill>
              <a:blip r:embed="rId20"/>
              <a:stretch>
                <a:fillRect/>
              </a:stretch>
            </a:blipFill>
          </p:spPr>
        </p:sp>
      </p:grpSp>
      <p:grpSp>
        <p:nvGrpSpPr>
          <p:cNvPr id="45" name="Group 45"/>
          <p:cNvGrpSpPr/>
          <p:nvPr/>
        </p:nvGrpSpPr>
        <p:grpSpPr>
          <a:xfrm>
            <a:off x="16544925" y="9001125"/>
            <a:ext cx="1743075" cy="1285875"/>
            <a:chOff x="0" y="0"/>
            <a:chExt cx="2324100" cy="17145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324100" cy="1714500"/>
            </a:xfrm>
            <a:custGeom>
              <a:avLst/>
              <a:gdLst/>
              <a:ahLst/>
              <a:cxnLst/>
              <a:rect l="l" t="t" r="r" b="b"/>
              <a:pathLst>
                <a:path w="2324100" h="1714500">
                  <a:moveTo>
                    <a:pt x="0" y="0"/>
                  </a:moveTo>
                  <a:lnTo>
                    <a:pt x="2324100" y="0"/>
                  </a:lnTo>
                  <a:lnTo>
                    <a:pt x="2324100" y="1714500"/>
                  </a:lnTo>
                  <a:lnTo>
                    <a:pt x="0" y="1714500"/>
                  </a:lnTo>
                  <a:close/>
                </a:path>
              </a:pathLst>
            </a:custGeom>
            <a:blipFill>
              <a:blip r:embed="rId21"/>
              <a:stretch>
                <a:fillRect/>
              </a:stretch>
            </a:blipFill>
          </p:spPr>
        </p:sp>
      </p:grpSp>
      <p:grpSp>
        <p:nvGrpSpPr>
          <p:cNvPr id="47" name="Group 47"/>
          <p:cNvGrpSpPr/>
          <p:nvPr/>
        </p:nvGrpSpPr>
        <p:grpSpPr>
          <a:xfrm>
            <a:off x="16973550" y="8353425"/>
            <a:ext cx="666750" cy="866775"/>
            <a:chOff x="0" y="0"/>
            <a:chExt cx="889000" cy="11557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89000" cy="1155700"/>
            </a:xfrm>
            <a:custGeom>
              <a:avLst/>
              <a:gdLst/>
              <a:ahLst/>
              <a:cxnLst/>
              <a:rect l="l" t="t" r="r" b="b"/>
              <a:pathLst>
                <a:path w="889000" h="1155700">
                  <a:moveTo>
                    <a:pt x="0" y="0"/>
                  </a:moveTo>
                  <a:lnTo>
                    <a:pt x="889000" y="0"/>
                  </a:lnTo>
                  <a:lnTo>
                    <a:pt x="889000" y="1155700"/>
                  </a:lnTo>
                  <a:lnTo>
                    <a:pt x="0" y="1155700"/>
                  </a:lnTo>
                  <a:close/>
                </a:path>
              </a:pathLst>
            </a:custGeom>
            <a:blipFill>
              <a:blip r:embed="rId2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368</Words>
  <Application>Microsoft Office PowerPoint</Application>
  <PresentationFormat>Custom</PresentationFormat>
  <Paragraphs>112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34" baseType="lpstr">
      <vt:lpstr>Heebo Heavy</vt:lpstr>
      <vt:lpstr>Inter Semi-Bold</vt:lpstr>
      <vt:lpstr>Bernoru Condensed</vt:lpstr>
      <vt:lpstr>Open Sans Hebrew Condensed</vt:lpstr>
      <vt:lpstr>League Spartan</vt:lpstr>
      <vt:lpstr>Open Sans Hebrew Condensed Ultra-Bold</vt:lpstr>
      <vt:lpstr>Poppins Semi-Bold</vt:lpstr>
      <vt:lpstr>Open Sans Condensed</vt:lpstr>
      <vt:lpstr>Le Jour Serif</vt:lpstr>
      <vt:lpstr>Calibri</vt:lpstr>
      <vt:lpstr>Be Vietnam Ultra-Bold</vt:lpstr>
      <vt:lpstr>Roboto Condensed</vt:lpstr>
      <vt:lpstr>Open Sans Condensed Medium</vt:lpstr>
      <vt:lpstr>Inter</vt:lpstr>
      <vt:lpstr>Poppins Bold</vt:lpstr>
      <vt:lpstr>Prata</vt:lpstr>
      <vt:lpstr>Barlow Ultra-Bold</vt:lpstr>
      <vt:lpstr>Roboto Condensed Bold</vt:lpstr>
      <vt:lpstr>DM Sans</vt:lpstr>
      <vt:lpstr>Roboto Bold</vt:lpstr>
      <vt:lpstr>Inter Bold</vt:lpstr>
      <vt:lpstr>Now Medium</vt:lpstr>
      <vt:lpstr>Arial</vt:lpstr>
      <vt:lpstr>DM Sans Bold</vt:lpstr>
      <vt:lpstr>Now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Foodbridge 7-Slide Pitch Deck</dc:title>
  <dc:creator>Akshith Kotipalli</dc:creator>
  <cp:lastModifiedBy>Akshith Kotipalli</cp:lastModifiedBy>
  <cp:revision>2</cp:revision>
  <dcterms:created xsi:type="dcterms:W3CDTF">2006-08-16T00:00:00Z</dcterms:created>
  <dcterms:modified xsi:type="dcterms:W3CDTF">2026-10-10T08:45:17Z</dcterms:modified>
  <dc:identifier>DAHXmHOThAo</dc:identifier>
</cp:coreProperties>
</file>